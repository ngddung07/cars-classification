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2"/>
    <p:sldId id="257" r:id="rId13"/>
  </p:sldIdLst>
  <p:sldSz cx="18288000" cy="10287000"/>
  <p:notesSz cx="6858000" cy="9144000"/>
  <p:embeddedFontLst>
    <p:embeddedFont>
      <p:font typeface="Helios Extended" charset="1" panose="02000505040000020004"/>
      <p:regular r:id="rId21"/>
    </p:embeddedFont>
    <p:embeddedFont>
      <p:font typeface="Helvetica World" charset="1" panose="020B0500040000020004"/>
      <p:regular r:id="rId22"/>
    </p:embeddedFont>
    <p:embeddedFont>
      <p:font typeface="Helvetica World Bold" charset="1" panose="020B08000400000200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38100">
              <a:solidFill>
                <a:srgbClr val="D40011"/>
              </a:solidFill>
            </a:ln>
          </c:spPr>
          <c:marker>
            <c:symbol val="none"/>
          </c:marker>
          <c:dPt>
            <c:idx val="47"/>
            <c:marker>
              <c:symbol val="circle"/>
              <c:size val="12"/>
              <c:spPr>
                <a:solidFill>
                  <a:srgbClr val="D40011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47"/>
              <c:tx>
                <c:rich>
                  <a:bodyPr/>
                  <a:lstStyle/>
                  <a:p>
                    <a:r>
                      <a:rPr sz="1800" b="1">
                        <a:solidFill>
                          <a:srgbClr val="000000"/>
                        </a:solidFill>
                        <a:latin typeface="Helvetica World"/>
                      </a:rPr>
                      <a:t>90%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18.8</c:v>
                </c:pt>
                <c:pt idx="1">
                  <c:v>21.6</c:v>
                </c:pt>
                <c:pt idx="2">
                  <c:v>25.3</c:v>
                </c:pt>
                <c:pt idx="3">
                  <c:v>28.3</c:v>
                </c:pt>
                <c:pt idx="4">
                  <c:v>30.0</c:v>
                </c:pt>
                <c:pt idx="5">
                  <c:v>32.4</c:v>
                </c:pt>
                <c:pt idx="6">
                  <c:v>32.4</c:v>
                </c:pt>
                <c:pt idx="7">
                  <c:v>36.6</c:v>
                </c:pt>
                <c:pt idx="8">
                  <c:v>39.6</c:v>
                </c:pt>
                <c:pt idx="9">
                  <c:v>40.4</c:v>
                </c:pt>
                <c:pt idx="10">
                  <c:v>41.9</c:v>
                </c:pt>
                <c:pt idx="11">
                  <c:v>42.7</c:v>
                </c:pt>
                <c:pt idx="12">
                  <c:v>41.7</c:v>
                </c:pt>
                <c:pt idx="13">
                  <c:v>47.9</c:v>
                </c:pt>
                <c:pt idx="14">
                  <c:v>49.7</c:v>
                </c:pt>
                <c:pt idx="15">
                  <c:v>50.0</c:v>
                </c:pt>
                <c:pt idx="16">
                  <c:v>49.4</c:v>
                </c:pt>
                <c:pt idx="17">
                  <c:v>52.6</c:v>
                </c:pt>
                <c:pt idx="18">
                  <c:v>55.2</c:v>
                </c:pt>
                <c:pt idx="19">
                  <c:v>51.4</c:v>
                </c:pt>
                <c:pt idx="20">
                  <c:v>56.3</c:v>
                </c:pt>
                <c:pt idx="21">
                  <c:v>57.4</c:v>
                </c:pt>
                <c:pt idx="22">
                  <c:v>59.4</c:v>
                </c:pt>
                <c:pt idx="23">
                  <c:v>62.0</c:v>
                </c:pt>
                <c:pt idx="24">
                  <c:v>64.4</c:v>
                </c:pt>
                <c:pt idx="25">
                  <c:v>64.9</c:v>
                </c:pt>
                <c:pt idx="26">
                  <c:v>63.9</c:v>
                </c:pt>
                <c:pt idx="27">
                  <c:v>59.3</c:v>
                </c:pt>
                <c:pt idx="28">
                  <c:v>69.3</c:v>
                </c:pt>
                <c:pt idx="29">
                  <c:v>69.5</c:v>
                </c:pt>
                <c:pt idx="30">
                  <c:v>67.5</c:v>
                </c:pt>
                <c:pt idx="31">
                  <c:v>72.5</c:v>
                </c:pt>
                <c:pt idx="32">
                  <c:v>75.4</c:v>
                </c:pt>
                <c:pt idx="33">
                  <c:v>76.6</c:v>
                </c:pt>
                <c:pt idx="34">
                  <c:v>73.7</c:v>
                </c:pt>
                <c:pt idx="35">
                  <c:v>77.1</c:v>
                </c:pt>
                <c:pt idx="36">
                  <c:v>79.5</c:v>
                </c:pt>
                <c:pt idx="37">
                  <c:v>81.2</c:v>
                </c:pt>
                <c:pt idx="38">
                  <c:v>79.6</c:v>
                </c:pt>
                <c:pt idx="39">
                  <c:v>78.7</c:v>
                </c:pt>
                <c:pt idx="40">
                  <c:v>78.7</c:v>
                </c:pt>
                <c:pt idx="41">
                  <c:v>78.6</c:v>
                </c:pt>
                <c:pt idx="42">
                  <c:v>76.1</c:v>
                </c:pt>
                <c:pt idx="43">
                  <c:v>85.4</c:v>
                </c:pt>
                <c:pt idx="44">
                  <c:v>82.4</c:v>
                </c:pt>
                <c:pt idx="45">
                  <c:v>86.8</c:v>
                </c:pt>
                <c:pt idx="46">
                  <c:v>88.2</c:v>
                </c:pt>
                <c:pt idx="47">
                  <c:v>90.3</c:v>
                </c:pt>
                <c:pt idx="48">
                  <c:v>84.7</c:v>
                </c:pt>
                <c:pt idx="49">
                  <c:v>79.1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800" b="0">
                    <a:solidFill>
                      <a:srgbClr val="555555"/>
                    </a:solidFill>
                    <a:latin typeface="Helvetica World"/>
                  </a:rPr>
                  <a:t>Epoch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C8CAC5"/>
            </a:solidFill>
          </a:ln>
        </c:spPr>
        <c:crossAx val="-2129643912"/>
        <c:crosses val="autoZero"/>
        <c:crossBetween val="midCat"/>
        <c:majorUnit val="10.0"/>
      </c:valAx>
      <c:valAx>
        <c:axId val="-2129643912"/>
        <c:scaling>
          <c:orientation val="minMax"/>
          <c:max val="100.0"/>
          <c:min val="0.0"/>
        </c:scaling>
        <c:delete val="0"/>
        <c:axPos val="l"/>
        <c:majorGridlines>
          <c:spPr>
            <a:ln w="9525">
              <a:solidFill>
                <a:srgbClr val="C8CAC5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  <c:majorUnit val="20.0"/>
      </c:valAx>
    </c:plotArea>
    <c:plotVisOnly val="1"/>
    <c:dispBlanksAs val="gap"/>
    <c:showDLblsOverMax val="0"/>
  </c:chart>
  <c:txPr>
    <a:bodyPr/>
    <a:lstStyle/>
    <a:p>
      <a:pPr>
        <a:defRPr sz="1800">
          <a:solidFill>
            <a:srgbClr val="555555"/>
          </a:solidFill>
          <a:latin typeface="Helvetica Worl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28700" y="777240"/>
            <a:ext cx="1623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lang="en-US" spc="-300">
                <a:solidFill>
                  <a:srgbClr val="000000"/>
                </a:solidFill>
                <a:latin typeface="Helios Extended"/>
              </a:rPr>
              <a:t>Convolutional Neural Network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028700" y="1828800"/>
            <a:ext cx="1623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lang="en-US">
                <a:solidFill>
                  <a:srgbClr val="555555"/>
                </a:solidFill>
                <a:latin typeface="Helvetica World"/>
              </a:rPr>
              <a:t>SimpleCNNNet (PyTorch): 3 × (Conv2d + ReLU) → MaxPool → Flatten → Linear  ·  input 3×112×112 → 7 classes</a:t>
            </a:r>
          </a:p>
        </p:txBody>
      </p:sp>
      <p:sp>
        <p:nvSpPr>
          <p:cNvPr id="4" name="Footer left"/>
          <p:cNvSpPr txBox="1"/>
          <p:nvPr/>
        </p:nvSpPr>
        <p:spPr>
          <a:xfrm>
            <a:off x="10287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CARS CLASSIFICATION · WEEK 2</a:t>
            </a:r>
          </a:p>
        </p:txBody>
      </p:sp>
      <p:sp>
        <p:nvSpPr>
          <p:cNvPr id="5" name="Footer right"/>
          <p:cNvSpPr txBox="1"/>
          <p:nvPr/>
        </p:nvSpPr>
        <p:spPr>
          <a:xfrm>
            <a:off x="99441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MISA INTERNSHIP</a:t>
            </a:r>
          </a:p>
        </p:txBody>
      </p:sp>
      <p:sp>
        <p:nvSpPr>
          <p:cNvPr id="6" name="Footer bar"/>
          <p:cNvSpPr/>
          <p:nvPr/>
        </p:nvSpPr>
        <p:spPr>
          <a:xfrm>
            <a:off x="0" y="9925812"/>
            <a:ext cx="18288000" cy="361188"/>
          </a:xfrm>
          <a:prstGeom prst="rect">
            <a:avLst/>
          </a:prstGeom>
          <a:solidFill>
            <a:srgbClr val="D400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7" name="Layer table"/>
          <p:cNvGraphicFramePr>
            <a:graphicFrameLocks noGrp="1"/>
          </p:cNvGraphicFramePr>
          <p:nvPr/>
        </p:nvGraphicFramePr>
        <p:xfrm>
          <a:off x="914400" y="2697480"/>
          <a:ext cx="16459200" cy="506577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926080"/>
                <a:gridCol w="1737360"/>
                <a:gridCol w="2560320"/>
                <a:gridCol w="1463040"/>
                <a:gridCol w="1463040"/>
                <a:gridCol w="1371600"/>
                <a:gridCol w="1554480"/>
                <a:gridCol w="2560320"/>
              </a:tblGrid>
              <a:tr h="713232"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No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Layer type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Layer name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Input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Kernel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Filters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Stride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Padding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Output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Input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Input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Conv2d + ReLU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Conv-1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Conv2d + ReLU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Conv-2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3×112×112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6×56×56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Conv2d + ReLU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Conv-3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6×56×56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12×27×27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MaxPool2d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Pool-1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12×27×27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3×3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12×7×7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Flatten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Flatten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12×7×7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1×588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FFFFFF"/>
                          </a:solidFill>
                          <a:latin typeface="Helios Extende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Linear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Dense-1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000000"/>
                          </a:solidFill>
                          <a:latin typeface="Helvetica World"/>
                        </a:rPr>
                        <a:t>1×588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–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1×7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ile 1"/>
          <p:cNvSpPr/>
          <p:nvPr/>
        </p:nvSpPr>
        <p:spPr>
          <a:xfrm>
            <a:off x="914400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LOSS FUNCTION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Cross-Entropy</a:t>
            </a:r>
          </a:p>
        </p:txBody>
      </p:sp>
      <p:sp>
        <p:nvSpPr>
          <p:cNvPr id="11" name="Tile 2"/>
          <p:cNvSpPr/>
          <p:nvPr/>
        </p:nvSpPr>
        <p:spPr>
          <a:xfrm>
            <a:off x="4261104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3984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OPTIMIZER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SGD (lr 0.003)</a:t>
            </a:r>
          </a:p>
        </p:txBody>
      </p:sp>
      <p:sp>
        <p:nvSpPr>
          <p:cNvPr id="14" name="Tile 3"/>
          <p:cNvSpPr/>
          <p:nvPr/>
        </p:nvSpPr>
        <p:spPr>
          <a:xfrm>
            <a:off x="7607808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BATCH SIZE /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0688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8 / 50</a:t>
            </a:r>
          </a:p>
        </p:txBody>
      </p:sp>
      <p:sp>
        <p:nvSpPr>
          <p:cNvPr id="17" name="Tile 4"/>
          <p:cNvSpPr/>
          <p:nvPr/>
        </p:nvSpPr>
        <p:spPr>
          <a:xfrm>
            <a:off x="10954512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7392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WEIGHT INIT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37392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Xavier uniform</a:t>
            </a:r>
          </a:p>
        </p:txBody>
      </p:sp>
      <p:sp>
        <p:nvSpPr>
          <p:cNvPr id="20" name="Tile 5"/>
          <p:cNvSpPr/>
          <p:nvPr/>
        </p:nvSpPr>
        <p:spPr>
          <a:xfrm>
            <a:off x="14301216" y="8001000"/>
            <a:ext cx="3072384" cy="96012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84096" y="8165592"/>
            <a:ext cx="2706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en-US" spc="150">
                <a:solidFill>
                  <a:srgbClr val="555555"/>
                </a:solidFill>
                <a:latin typeface="Helvetica World"/>
              </a:rPr>
              <a:t>TRAINABLE PARAMS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84096" y="8458200"/>
            <a:ext cx="270662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en-US">
                <a:solidFill>
                  <a:srgbClr val="000000"/>
                </a:solidFill>
                <a:latin typeface="Helvetica World"/>
              </a:rPr>
              <a:t>5,035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028700" y="777240"/>
            <a:ext cx="1623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lang="vi-VN" spc="-300">
                <a:solidFill>
                  <a:srgbClr val="000000"/>
                </a:solidFill>
                <a:latin typeface="Helios Extended"/>
              </a:rPr>
              <a:t>Kết quả thực hiện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028700" y="1828800"/>
            <a:ext cx="1623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lang="vi-VN">
                <a:solidFill>
                  <a:srgbClr val="555555"/>
                </a:solidFill>
                <a:latin typeface="Helvetica World"/>
              </a:rPr>
              <a:t>Huấn luyện 50 epoch, chọn checkpoint có validation accuracy cao nhất để kiểm thử trên 616 ảnh test</a:t>
            </a:r>
          </a:p>
        </p:txBody>
      </p:sp>
      <p:sp>
        <p:nvSpPr>
          <p:cNvPr id="4" name="Footer left"/>
          <p:cNvSpPr txBox="1"/>
          <p:nvPr/>
        </p:nvSpPr>
        <p:spPr>
          <a:xfrm>
            <a:off x="10287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CARS CLASSIFICATION · WEEK 2</a:t>
            </a:r>
          </a:p>
        </p:txBody>
      </p:sp>
      <p:sp>
        <p:nvSpPr>
          <p:cNvPr id="5" name="Footer right"/>
          <p:cNvSpPr txBox="1"/>
          <p:nvPr/>
        </p:nvSpPr>
        <p:spPr>
          <a:xfrm>
            <a:off x="9944100" y="9345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600" b="0" lang="en-US" spc="279">
                <a:solidFill>
                  <a:srgbClr val="000000"/>
                </a:solidFill>
                <a:latin typeface="Helvetica World"/>
              </a:rPr>
              <a:t>MISA INTERNSHIP</a:t>
            </a:r>
          </a:p>
        </p:txBody>
      </p:sp>
      <p:sp>
        <p:nvSpPr>
          <p:cNvPr id="6" name="Footer bar"/>
          <p:cNvSpPr/>
          <p:nvPr/>
        </p:nvSpPr>
        <p:spPr>
          <a:xfrm>
            <a:off x="0" y="9925812"/>
            <a:ext cx="18288000" cy="361188"/>
          </a:xfrm>
          <a:prstGeom prst="rect">
            <a:avLst/>
          </a:prstGeom>
          <a:solidFill>
            <a:srgbClr val="98C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art heading"/>
          <p:cNvSpPr txBox="1"/>
          <p:nvPr/>
        </p:nvSpPr>
        <p:spPr>
          <a:xfrm>
            <a:off x="914400" y="2606040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vi-VN">
                <a:solidFill>
                  <a:srgbClr val="000000"/>
                </a:solidFill>
                <a:latin typeface="Helvetica World"/>
              </a:rPr>
              <a:t>Validation accuracy qua 50 epoch</a:t>
            </a:r>
          </a:p>
        </p:txBody>
      </p:sp>
      <p:graphicFrame>
        <p:nvGraphicFramePr>
          <p:cNvPr id="8" name="Validation accuracy chart"/>
          <p:cNvGraphicFramePr>
            <a:graphicFrameLocks noGrp="1"/>
          </p:cNvGraphicFramePr>
          <p:nvPr/>
        </p:nvGraphicFramePr>
        <p:xfrm>
          <a:off x="914400" y="3017520"/>
          <a:ext cx="7863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tat val"/>
          <p:cNvSpPr/>
          <p:nvPr/>
        </p:nvSpPr>
        <p:spPr>
          <a:xfrm>
            <a:off x="914400" y="7269480"/>
            <a:ext cx="3794759" cy="137160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7434072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vi-VN" spc="150">
                <a:solidFill>
                  <a:srgbClr val="555555"/>
                </a:solidFill>
                <a:latin typeface="Helvetica World"/>
              </a:rPr>
              <a:t>VALIDATION CAO NHẤT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726679"/>
            <a:ext cx="33375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lang="vi-VN" spc="-100">
                <a:solidFill>
                  <a:srgbClr val="000000"/>
                </a:solidFill>
                <a:latin typeface="Helios Extended"/>
              </a:rPr>
              <a:t>≈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275320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lang="vi-VN">
                <a:solidFill>
                  <a:srgbClr val="555555"/>
                </a:solidFill>
                <a:latin typeface="Helvetica World"/>
              </a:rPr>
              <a:t>tại epoch 48 / 50</a:t>
            </a:r>
          </a:p>
        </p:txBody>
      </p:sp>
      <p:sp>
        <p:nvSpPr>
          <p:cNvPr id="13" name="Stat test"/>
          <p:cNvSpPr/>
          <p:nvPr/>
        </p:nvSpPr>
        <p:spPr>
          <a:xfrm>
            <a:off x="4983479" y="7269480"/>
            <a:ext cx="3794759" cy="137160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7434072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lang="vi-VN" spc="150">
                <a:solidFill>
                  <a:srgbClr val="555555"/>
                </a:solidFill>
                <a:latin typeface="Helvetica World"/>
              </a:rPr>
              <a:t>ĐỘ CHÍNH XÁC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7726679"/>
            <a:ext cx="333755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lang="vi-VN" spc="-100">
                <a:solidFill>
                  <a:srgbClr val="000000"/>
                </a:solidFill>
                <a:latin typeface="Helios Extended"/>
              </a:rPr>
              <a:t>49.2%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8275320"/>
            <a:ext cx="3337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lang="vi-VN">
                <a:solidFill>
                  <a:srgbClr val="555555"/>
                </a:solidFill>
                <a:latin typeface="Helvetica World"/>
              </a:rPr>
              <a:t>303 / 616 ảnh test đúng</a:t>
            </a:r>
          </a:p>
        </p:txBody>
      </p:sp>
      <p:sp>
        <p:nvSpPr>
          <p:cNvPr id="17" name="Matrix heading"/>
          <p:cNvSpPr txBox="1"/>
          <p:nvPr/>
        </p:nvSpPr>
        <p:spPr>
          <a:xfrm>
            <a:off x="9326880" y="2606040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lang="vi-VN">
                <a:solidFill>
                  <a:srgbClr val="000000"/>
                </a:solidFill>
                <a:latin typeface="Helvetica World"/>
              </a:rPr>
              <a:t>Confusion matrix trên tập test (epoch tốt nhất)</a:t>
            </a:r>
          </a:p>
        </p:txBody>
      </p:sp>
      <p:graphicFrame>
        <p:nvGraphicFramePr>
          <p:cNvPr id="18" name="Confusion matrix"/>
          <p:cNvGraphicFramePr>
            <a:graphicFrameLocks noGrp="1"/>
          </p:cNvGraphicFramePr>
          <p:nvPr/>
        </p:nvGraphicFramePr>
        <p:xfrm>
          <a:off x="9326880" y="3017520"/>
          <a:ext cx="8046720" cy="389534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188720"/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  <a:gridCol w="173736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vi-VN">
                          <a:solidFill>
                            <a:srgbClr val="FFFFFF"/>
                          </a:solidFill>
                          <a:latin typeface="Helvetica World"/>
                        </a:rPr>
                        <a:t>Thực tế ↓</a:t>
                      </a:r>
                    </a:p>
                    <a:p>
                      <a:pPr algn="ctr"/>
                      <a:r>
                        <a:rPr sz="1400" b="1" lang="vi-VN">
                          <a:solidFill>
                            <a:srgbClr val="FFFFFF"/>
                          </a:solidFill>
                          <a:latin typeface="Helvetica World"/>
                        </a:rPr>
                        <a:t>Dự đoán →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FFFFFF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FFFFFF"/>
                          </a:solidFill>
                          <a:latin typeface="Helvetica World"/>
                        </a:rPr>
                        <a:t>Đúng (%)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4001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39%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55%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31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41%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21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28%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68%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5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11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8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4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67%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vi-VN">
                          <a:solidFill>
                            <a:srgbClr val="000000"/>
                          </a:solidFill>
                          <a:latin typeface="Helvetica World"/>
                        </a:rPr>
                        <a:t>Lớp 6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12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9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3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17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lang="en-US">
                          <a:solidFill>
                            <a:srgbClr val="555555"/>
                          </a:solidFill>
                          <a:latin typeface="Helvetica World"/>
                        </a:rPr>
                        <a:t>7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40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98C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lang="en-US">
                          <a:solidFill>
                            <a:srgbClr val="000000"/>
                          </a:solidFill>
                          <a:latin typeface="Helvetica World"/>
                        </a:rPr>
                        <a:t>40%</a:t>
                      </a:r>
                    </a:p>
                  </a:txBody>
                  <a:tcPr anchor="ctr" marL="73152" marR="73152" marT="27432" marB="27432">
                    <a:lnL w="19050" cap="flat" cmpd="sng" algn="ctr">
                      <a:solidFill>
                        <a:srgbClr val="FFFFFF"/>
                      </a:solidFill>
                      <a:prstDash val="soli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E1E3DE"/>
                    </a:solidFill>
                  </a:tcPr>
                </a:tc>
              </a:tr>
            </a:tbl>
          </a:graphicData>
        </a:graphic>
      </p:graphicFrame>
      <p:sp>
        <p:nvSpPr>
          <p:cNvPr id="19" name="Takeaway box"/>
          <p:cNvSpPr/>
          <p:nvPr/>
        </p:nvSpPr>
        <p:spPr>
          <a:xfrm>
            <a:off x="9326880" y="7269480"/>
            <a:ext cx="8046720" cy="1371600"/>
          </a:xfrm>
          <a:prstGeom prst="rect">
            <a:avLst/>
          </a:prstGeom>
          <a:solidFill>
            <a:srgbClr val="E1E3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s"/>
          <p:cNvSpPr txBox="1"/>
          <p:nvPr/>
        </p:nvSpPr>
        <p:spPr>
          <a:xfrm>
            <a:off x="9601200" y="7269480"/>
            <a:ext cx="74980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320040" indent="-320040">
              <a:spcAft>
                <a:spcPts val="600"/>
              </a:spcAft>
              <a:buFont typeface="Arial"/>
              <a:buChar char="•"/>
            </a:pPr>
            <a:r>
              <a:rPr sz="1900" b="0" lang="vi-VN">
                <a:solidFill>
                  <a:srgbClr val="000000"/>
                </a:solidFill>
                <a:latin typeface="Helvetica World"/>
              </a:rPr>
              <a:t>Lớp 4 và lớp 5 nhận dạng tốt nhất (68% và 67%); lớp 3 kém nhất (28%), hay bị nhầm sang lớp 0.</a:t>
            </a:r>
          </a:p>
          <a:p>
            <a:pPr algn="l" marL="320040" indent="-320040">
              <a:buFont typeface="Arial"/>
              <a:buChar char="•"/>
            </a:pPr>
            <a:r>
              <a:rPr sz="1900" b="0" lang="vi-VN">
                <a:solidFill>
                  <a:srgbClr val="000000"/>
                </a:solidFill>
                <a:latin typeface="Helvetica World"/>
              </a:rPr>
              <a:t>Validation ≈ 90% nhưng test chỉ 49.2% → mô hình overfit; hướng cải thiện: data augmentation, dropout, mạng sâu hơn.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DAHZHiOPlUc</dc:identifier>
  <dcterms:modified xsi:type="dcterms:W3CDTF">2011-08-01T06:04:30Z</dcterms:modified>
  <cp:revision>1</cp:revision>
  <dc:title>Project Showcase Presentation</dc:title>
</cp:coreProperties>
</file>