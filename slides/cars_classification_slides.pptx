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12"/>
    <p:sldId id="257" r:id="rId13"/>
    <p:sldId id="258" r:id="rId11"/>
  </p:sldIdLst>
  <p:sldSz cx="18288000" cy="10287000"/>
  <p:notesSz cx="6858000" cy="9144000"/>
  <p:embeddedFontLst>
    <p:embeddedFont>
      <p:font typeface="Helios Extended" charset="1" panose="02000505040000020004"/>
      <p:regular r:id="rId21"/>
    </p:embeddedFont>
    <p:embeddedFont>
      <p:font typeface="Helvetica World" charset="1" panose="020B0500040000020004"/>
      <p:regular r:id="rId22"/>
    </p:embeddedFont>
    <p:embeddedFont>
      <p:font typeface="Helvetica World Bold" charset="1" panose="020B0800040000020004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11" Type="http://schemas.openxmlformats.org/officeDocument/2006/relationships/slide" Target="slides/slide3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21" Type="http://schemas.openxmlformats.org/officeDocument/2006/relationships/font" Target="fonts/font21.fntdata"/><Relationship Id="rId22" Type="http://schemas.openxmlformats.org/officeDocument/2006/relationships/font" Target="fonts/font22.fntdata"/><Relationship Id="rId23" Type="http://schemas.openxmlformats.org/officeDocument/2006/relationships/font" Target="fonts/font23.fntdata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Validation accuracy</c:v>
                </c:pt>
              </c:strCache>
            </c:strRef>
          </c:tx>
          <c:spPr>
            <a:ln w="38100">
              <a:solidFill>
                <a:srgbClr val="D40011"/>
              </a:solidFill>
            </a:ln>
          </c:spPr>
          <c:marker>
            <c:symbol val="none"/>
          </c:marker>
          <c:dPt>
            <c:idx val="47"/>
            <c:marker>
              <c:symbol val="circle"/>
              <c:size val="12"/>
              <c:spPr>
                <a:solidFill>
                  <a:srgbClr val="D40011"/>
                </a:solidFill>
                <a:ln>
                  <a:solidFill>
                    <a:srgbClr val="FFFFFF"/>
                  </a:solidFill>
                </a:ln>
              </c:spPr>
            </c:marker>
          </c:dPt>
          <c:dLbls>
            <c:dLbl>
              <c:idx val="47"/>
              <c:tx>
                <c:rich>
                  <a:bodyPr/>
                  <a:lstStyle/>
                  <a:p>
                    <a:r>
                      <a:rPr sz="1800" b="1">
                        <a:solidFill>
                          <a:srgbClr val="000000"/>
                        </a:solidFill>
                        <a:latin typeface="Helvetica World"/>
                      </a:rPr>
                      <a:t>90%</a:t>
                    </a:r>
                  </a:p>
                </c:rich>
              </c:tx>
              <c:dLblPos val="l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xVal>
            <c:numRef>
              <c:f>Sheet1!$A$2:$A$51</c:f>
              <c:numCache>
                <c:formatCode>General</c:formatCode>
                <c:ptCount val="5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</c:numCache>
            </c:numRef>
          </c:xVal>
          <c:yVal>
            <c:numRef>
              <c:f>Sheet1!$B$2:$B$51</c:f>
              <c:numCache>
                <c:formatCode>General</c:formatCode>
                <c:ptCount val="50"/>
                <c:pt idx="0">
                  <c:v>18.8</c:v>
                </c:pt>
                <c:pt idx="1">
                  <c:v>21.6</c:v>
                </c:pt>
                <c:pt idx="2">
                  <c:v>25.3</c:v>
                </c:pt>
                <c:pt idx="3">
                  <c:v>28.3</c:v>
                </c:pt>
                <c:pt idx="4">
                  <c:v>30.0</c:v>
                </c:pt>
                <c:pt idx="5">
                  <c:v>32.4</c:v>
                </c:pt>
                <c:pt idx="6">
                  <c:v>32.4</c:v>
                </c:pt>
                <c:pt idx="7">
                  <c:v>36.6</c:v>
                </c:pt>
                <c:pt idx="8">
                  <c:v>39.6</c:v>
                </c:pt>
                <c:pt idx="9">
                  <c:v>40.4</c:v>
                </c:pt>
                <c:pt idx="10">
                  <c:v>41.9</c:v>
                </c:pt>
                <c:pt idx="11">
                  <c:v>42.7</c:v>
                </c:pt>
                <c:pt idx="12">
                  <c:v>41.7</c:v>
                </c:pt>
                <c:pt idx="13">
                  <c:v>47.9</c:v>
                </c:pt>
                <c:pt idx="14">
                  <c:v>49.7</c:v>
                </c:pt>
                <c:pt idx="15">
                  <c:v>50.0</c:v>
                </c:pt>
                <c:pt idx="16">
                  <c:v>49.4</c:v>
                </c:pt>
                <c:pt idx="17">
                  <c:v>52.6</c:v>
                </c:pt>
                <c:pt idx="18">
                  <c:v>55.2</c:v>
                </c:pt>
                <c:pt idx="19">
                  <c:v>51.4</c:v>
                </c:pt>
                <c:pt idx="20">
                  <c:v>56.3</c:v>
                </c:pt>
                <c:pt idx="21">
                  <c:v>57.4</c:v>
                </c:pt>
                <c:pt idx="22">
                  <c:v>59.4</c:v>
                </c:pt>
                <c:pt idx="23">
                  <c:v>62.0</c:v>
                </c:pt>
                <c:pt idx="24">
                  <c:v>64.4</c:v>
                </c:pt>
                <c:pt idx="25">
                  <c:v>64.9</c:v>
                </c:pt>
                <c:pt idx="26">
                  <c:v>63.9</c:v>
                </c:pt>
                <c:pt idx="27">
                  <c:v>59.3</c:v>
                </c:pt>
                <c:pt idx="28">
                  <c:v>69.3</c:v>
                </c:pt>
                <c:pt idx="29">
                  <c:v>69.5</c:v>
                </c:pt>
                <c:pt idx="30">
                  <c:v>67.5</c:v>
                </c:pt>
                <c:pt idx="31">
                  <c:v>72.5</c:v>
                </c:pt>
                <c:pt idx="32">
                  <c:v>75.4</c:v>
                </c:pt>
                <c:pt idx="33">
                  <c:v>76.6</c:v>
                </c:pt>
                <c:pt idx="34">
                  <c:v>73.7</c:v>
                </c:pt>
                <c:pt idx="35">
                  <c:v>77.1</c:v>
                </c:pt>
                <c:pt idx="36">
                  <c:v>79.5</c:v>
                </c:pt>
                <c:pt idx="37">
                  <c:v>81.2</c:v>
                </c:pt>
                <c:pt idx="38">
                  <c:v>79.6</c:v>
                </c:pt>
                <c:pt idx="39">
                  <c:v>78.7</c:v>
                </c:pt>
                <c:pt idx="40">
                  <c:v>78.7</c:v>
                </c:pt>
                <c:pt idx="41">
                  <c:v>78.6</c:v>
                </c:pt>
                <c:pt idx="42">
                  <c:v>76.1</c:v>
                </c:pt>
                <c:pt idx="43">
                  <c:v>85.4</c:v>
                </c:pt>
                <c:pt idx="44">
                  <c:v>82.4</c:v>
                </c:pt>
                <c:pt idx="45">
                  <c:v>86.8</c:v>
                </c:pt>
                <c:pt idx="46">
                  <c:v>88.2</c:v>
                </c:pt>
                <c:pt idx="47">
                  <c:v>90.3</c:v>
                </c:pt>
                <c:pt idx="48">
                  <c:v>84.7</c:v>
                </c:pt>
                <c:pt idx="49">
                  <c:v>79.1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50.0"/>
          <c:min val="0.0"/>
        </c:scaling>
        <c:delete val="0"/>
        <c:axPos val="b"/>
        <c:title>
          <c:tx>
            <c:rich>
              <a:bodyPr/>
              <a:lstStyle/>
              <a:p>
                <a:r>
                  <a:rPr sz="1800" b="0">
                    <a:solidFill>
                      <a:srgbClr val="555555"/>
                    </a:solidFill>
                    <a:latin typeface="Helvetica World"/>
                  </a:rPr>
                  <a:t>Epoch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C8CAC5"/>
            </a:solidFill>
          </a:ln>
        </c:spPr>
        <c:crossAx val="-2129643912"/>
        <c:crosses val="autoZero"/>
        <c:crossBetween val="midCat"/>
        <c:majorUnit val="10.0"/>
      </c:valAx>
      <c:valAx>
        <c:axId val="-2129643912"/>
        <c:scaling>
          <c:orientation val="minMax"/>
          <c:max val="100.0"/>
          <c:min val="0.0"/>
        </c:scaling>
        <c:delete val="0"/>
        <c:axPos val="l"/>
        <c:majorGridlines>
          <c:spPr>
            <a:ln w="9525">
              <a:solidFill>
                <a:srgbClr val="C8CAC5"/>
              </a:solidFill>
            </a:ln>
          </c:spPr>
        </c:majorGridlines>
        <c:numFmt formatCode="0&quot;%&quot;" sourceLinked="0"/>
        <c:majorTickMark val="none"/>
        <c:minorTickMark val="none"/>
        <c:tickLblPos val="nextTo"/>
        <c:spPr>
          <a:ln>
            <a:noFill/>
          </a:ln>
        </c:spPr>
        <c:crossAx val="-2128940872"/>
        <c:crosses val="autoZero"/>
        <c:crossBetween val="midCat"/>
        <c:majorUnit val="20.0"/>
      </c:valAx>
    </c:plotArea>
    <c:plotVisOnly val="1"/>
    <c:dispBlanksAs val="gap"/>
    <c:showDLblsOverMax val="0"/>
  </c:chart>
  <c:txPr>
    <a:bodyPr/>
    <a:lstStyle/>
    <a:p>
      <a:pPr>
        <a:defRPr sz="1800">
          <a:solidFill>
            <a:srgbClr val="555555"/>
          </a:solidFill>
          <a:latin typeface="Helvetica World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1028700" y="777240"/>
            <a:ext cx="162306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0" lang="en-US" spc="-300">
                <a:solidFill>
                  <a:srgbClr val="000000"/>
                </a:solidFill>
                <a:latin typeface="Helios Extended"/>
              </a:rPr>
              <a:t>Convolutional Neural Network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1028700" y="1828800"/>
            <a:ext cx="16230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lang="en-US">
                <a:solidFill>
                  <a:srgbClr val="555555"/>
                </a:solidFill>
                <a:latin typeface="Helvetica World"/>
              </a:rPr>
              <a:t>SimpleCNNNet (PyTorch): 3 × (Conv2d + ReLU) → MaxPool → Flatten → Linear  ·  input 3×112×112 → 7 classes</a:t>
            </a:r>
          </a:p>
        </p:txBody>
      </p:sp>
      <p:sp>
        <p:nvSpPr>
          <p:cNvPr id="4" name="Footer left"/>
          <p:cNvSpPr txBox="1"/>
          <p:nvPr/>
        </p:nvSpPr>
        <p:spPr>
          <a:xfrm>
            <a:off x="1028700" y="93451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lang="en-US" spc="279">
                <a:solidFill>
                  <a:srgbClr val="000000"/>
                </a:solidFill>
                <a:latin typeface="Helvetica World"/>
              </a:rPr>
              <a:t>CARS CLASSIFICATION · WEEK 2</a:t>
            </a:r>
          </a:p>
        </p:txBody>
      </p:sp>
      <p:sp>
        <p:nvSpPr>
          <p:cNvPr id="5" name="Footer right"/>
          <p:cNvSpPr txBox="1"/>
          <p:nvPr/>
        </p:nvSpPr>
        <p:spPr>
          <a:xfrm>
            <a:off x="9944100" y="93451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0" lang="en-US" spc="279">
                <a:solidFill>
                  <a:srgbClr val="000000"/>
                </a:solidFill>
                <a:latin typeface="Helvetica World"/>
              </a:rPr>
              <a:t>MISA INTERNSHIP</a:t>
            </a:r>
          </a:p>
        </p:txBody>
      </p:sp>
      <p:sp>
        <p:nvSpPr>
          <p:cNvPr id="6" name="Footer bar"/>
          <p:cNvSpPr/>
          <p:nvPr/>
        </p:nvSpPr>
        <p:spPr>
          <a:xfrm>
            <a:off x="0" y="9925812"/>
            <a:ext cx="18288000" cy="361188"/>
          </a:xfrm>
          <a:prstGeom prst="rect">
            <a:avLst/>
          </a:prstGeom>
          <a:solidFill>
            <a:srgbClr val="D400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7" name="Layer table"/>
          <p:cNvGraphicFramePr>
            <a:graphicFrameLocks noGrp="1"/>
          </p:cNvGraphicFramePr>
          <p:nvPr/>
        </p:nvGraphicFramePr>
        <p:xfrm>
          <a:off x="914400" y="2697480"/>
          <a:ext cx="16459200" cy="5065776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822960"/>
                <a:gridCol w="2926080"/>
                <a:gridCol w="1737360"/>
                <a:gridCol w="2560320"/>
                <a:gridCol w="1463040"/>
                <a:gridCol w="1463040"/>
                <a:gridCol w="1371600"/>
                <a:gridCol w="1554480"/>
                <a:gridCol w="2560320"/>
              </a:tblGrid>
              <a:tr h="713232">
                <a:tc>
                  <a:txBody>
                    <a:bodyPr wrap="square"/>
                    <a:lstStyle/>
                    <a:p>
                      <a:pPr algn="ctr"/>
                      <a:r>
                        <a:rPr sz="2200" b="1" lang="en-US">
                          <a:solidFill>
                            <a:srgbClr val="FFFFFF"/>
                          </a:solidFill>
                          <a:latin typeface="Helvetica World"/>
                        </a:rPr>
                        <a:t>No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400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1" lang="en-US">
                          <a:solidFill>
                            <a:srgbClr val="FFFFFF"/>
                          </a:solidFill>
                          <a:latin typeface="Helvetica World"/>
                        </a:rPr>
                        <a:t>Layer type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400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1" lang="en-US">
                          <a:solidFill>
                            <a:srgbClr val="FFFFFF"/>
                          </a:solidFill>
                          <a:latin typeface="Helvetica World"/>
                        </a:rPr>
                        <a:t>Layer name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400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1" lang="en-US">
                          <a:solidFill>
                            <a:srgbClr val="FFFFFF"/>
                          </a:solidFill>
                          <a:latin typeface="Helvetica World"/>
                        </a:rPr>
                        <a:t>Input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400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1" lang="en-US">
                          <a:solidFill>
                            <a:srgbClr val="FFFFFF"/>
                          </a:solidFill>
                          <a:latin typeface="Helvetica World"/>
                        </a:rPr>
                        <a:t>Kernel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400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1" lang="en-US">
                          <a:solidFill>
                            <a:srgbClr val="FFFFFF"/>
                          </a:solidFill>
                          <a:latin typeface="Helvetica World"/>
                        </a:rPr>
                        <a:t>Filters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400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1" lang="en-US">
                          <a:solidFill>
                            <a:srgbClr val="FFFFFF"/>
                          </a:solidFill>
                          <a:latin typeface="Helvetica World"/>
                        </a:rPr>
                        <a:t>Stride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400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1" lang="en-US">
                          <a:solidFill>
                            <a:srgbClr val="FFFFFF"/>
                          </a:solidFill>
                          <a:latin typeface="Helvetica World"/>
                        </a:rPr>
                        <a:t>Padding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400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1" lang="en-US">
                          <a:solidFill>
                            <a:srgbClr val="FFFFFF"/>
                          </a:solidFill>
                          <a:latin typeface="Helvetica World"/>
                        </a:rPr>
                        <a:t>Output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40011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2400" b="0" lang="en-US">
                          <a:solidFill>
                            <a:srgbClr val="FFFFFF"/>
                          </a:solidFill>
                          <a:latin typeface="Helios Extended"/>
                        </a:rPr>
                        <a:t>1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98C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0" lang="en-US">
                          <a:solidFill>
                            <a:srgbClr val="000000"/>
                          </a:solidFill>
                          <a:latin typeface="Helvetica World"/>
                        </a:rPr>
                        <a:t>Input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0" lang="en-US">
                          <a:solidFill>
                            <a:srgbClr val="000000"/>
                          </a:solidFill>
                          <a:latin typeface="Helvetica World"/>
                        </a:rPr>
                        <a:t>Input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0" lang="en-US">
                          <a:solidFill>
                            <a:srgbClr val="000000"/>
                          </a:solidFill>
                          <a:latin typeface="Helvetica World"/>
                        </a:rPr>
                        <a:t>3×112×112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0" lang="en-US">
                          <a:solidFill>
                            <a:srgbClr val="555555"/>
                          </a:solidFill>
                          <a:latin typeface="Helvetica World"/>
                        </a:rPr>
                        <a:t>–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0" lang="en-US">
                          <a:solidFill>
                            <a:srgbClr val="555555"/>
                          </a:solidFill>
                          <a:latin typeface="Helvetica World"/>
                        </a:rPr>
                        <a:t>–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0" lang="en-US">
                          <a:solidFill>
                            <a:srgbClr val="555555"/>
                          </a:solidFill>
                          <a:latin typeface="Helvetica World"/>
                        </a:rPr>
                        <a:t>–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0" lang="en-US">
                          <a:solidFill>
                            <a:srgbClr val="555555"/>
                          </a:solidFill>
                          <a:latin typeface="Helvetica World"/>
                        </a:rPr>
                        <a:t>–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1" lang="en-US">
                          <a:solidFill>
                            <a:srgbClr val="000000"/>
                          </a:solidFill>
                          <a:latin typeface="Helvetica World"/>
                        </a:rPr>
                        <a:t>3×112×112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2400" b="0" lang="en-US">
                          <a:solidFill>
                            <a:srgbClr val="FFFFFF"/>
                          </a:solidFill>
                          <a:latin typeface="Helios Extended"/>
                        </a:rPr>
                        <a:t>2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98C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0" lang="en-US">
                          <a:solidFill>
                            <a:srgbClr val="000000"/>
                          </a:solidFill>
                          <a:latin typeface="Helvetica World"/>
                        </a:rPr>
                        <a:t>Conv2d + ReLU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1E3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0" lang="en-US">
                          <a:solidFill>
                            <a:srgbClr val="000000"/>
                          </a:solidFill>
                          <a:latin typeface="Helvetica World"/>
                        </a:rPr>
                        <a:t>Conv-1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1E3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0" lang="en-US">
                          <a:solidFill>
                            <a:srgbClr val="000000"/>
                          </a:solidFill>
                          <a:latin typeface="Helvetica World"/>
                        </a:rPr>
                        <a:t>3×112×112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1E3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0" lang="en-US">
                          <a:solidFill>
                            <a:srgbClr val="000000"/>
                          </a:solidFill>
                          <a:latin typeface="Helvetica World"/>
                        </a:rPr>
                        <a:t>3×3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1E3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0" lang="en-US">
                          <a:solidFill>
                            <a:srgbClr val="000000"/>
                          </a:solidFill>
                          <a:latin typeface="Helvetica World"/>
                        </a:rPr>
                        <a:t>3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1E3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0" lang="en-US">
                          <a:solidFill>
                            <a:srgbClr val="000000"/>
                          </a:solidFill>
                          <a:latin typeface="Helvetica World"/>
                        </a:rPr>
                        <a:t>1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1E3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0" lang="en-US">
                          <a:solidFill>
                            <a:srgbClr val="000000"/>
                          </a:solidFill>
                          <a:latin typeface="Helvetica World"/>
                        </a:rPr>
                        <a:t>1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1E3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1" lang="en-US">
                          <a:solidFill>
                            <a:srgbClr val="000000"/>
                          </a:solidFill>
                          <a:latin typeface="Helvetica World"/>
                        </a:rPr>
                        <a:t>3×112×112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1E3DE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2400" b="0" lang="en-US">
                          <a:solidFill>
                            <a:srgbClr val="FFFFFF"/>
                          </a:solidFill>
                          <a:latin typeface="Helios Extended"/>
                        </a:rPr>
                        <a:t>3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98C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0" lang="en-US">
                          <a:solidFill>
                            <a:srgbClr val="000000"/>
                          </a:solidFill>
                          <a:latin typeface="Helvetica World"/>
                        </a:rPr>
                        <a:t>Conv2d + ReLU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0" lang="en-US">
                          <a:solidFill>
                            <a:srgbClr val="000000"/>
                          </a:solidFill>
                          <a:latin typeface="Helvetica World"/>
                        </a:rPr>
                        <a:t>Conv-2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0" lang="en-US">
                          <a:solidFill>
                            <a:srgbClr val="000000"/>
                          </a:solidFill>
                          <a:latin typeface="Helvetica World"/>
                        </a:rPr>
                        <a:t>3×112×112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0" lang="en-US">
                          <a:solidFill>
                            <a:srgbClr val="000000"/>
                          </a:solidFill>
                          <a:latin typeface="Helvetica World"/>
                        </a:rPr>
                        <a:t>3×3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0" lang="en-US">
                          <a:solidFill>
                            <a:srgbClr val="000000"/>
                          </a:solidFill>
                          <a:latin typeface="Helvetica World"/>
                        </a:rPr>
                        <a:t>6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0" lang="en-US">
                          <a:solidFill>
                            <a:srgbClr val="000000"/>
                          </a:solidFill>
                          <a:latin typeface="Helvetica World"/>
                        </a:rPr>
                        <a:t>2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0" lang="en-US">
                          <a:solidFill>
                            <a:srgbClr val="000000"/>
                          </a:solidFill>
                          <a:latin typeface="Helvetica World"/>
                        </a:rPr>
                        <a:t>1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1" lang="en-US">
                          <a:solidFill>
                            <a:srgbClr val="000000"/>
                          </a:solidFill>
                          <a:latin typeface="Helvetica World"/>
                        </a:rPr>
                        <a:t>6×56×56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2400" b="0" lang="en-US">
                          <a:solidFill>
                            <a:srgbClr val="FFFFFF"/>
                          </a:solidFill>
                          <a:latin typeface="Helios Extended"/>
                        </a:rPr>
                        <a:t>4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98C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0" lang="en-US">
                          <a:solidFill>
                            <a:srgbClr val="000000"/>
                          </a:solidFill>
                          <a:latin typeface="Helvetica World"/>
                        </a:rPr>
                        <a:t>Conv2d + ReLU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1E3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0" lang="en-US">
                          <a:solidFill>
                            <a:srgbClr val="000000"/>
                          </a:solidFill>
                          <a:latin typeface="Helvetica World"/>
                        </a:rPr>
                        <a:t>Conv-3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1E3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0" lang="en-US">
                          <a:solidFill>
                            <a:srgbClr val="000000"/>
                          </a:solidFill>
                          <a:latin typeface="Helvetica World"/>
                        </a:rPr>
                        <a:t>6×56×56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1E3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0" lang="en-US">
                          <a:solidFill>
                            <a:srgbClr val="000000"/>
                          </a:solidFill>
                          <a:latin typeface="Helvetica World"/>
                        </a:rPr>
                        <a:t>3×3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1E3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0" lang="en-US">
                          <a:solidFill>
                            <a:srgbClr val="000000"/>
                          </a:solidFill>
                          <a:latin typeface="Helvetica World"/>
                        </a:rPr>
                        <a:t>12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1E3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0" lang="en-US">
                          <a:solidFill>
                            <a:srgbClr val="000000"/>
                          </a:solidFill>
                          <a:latin typeface="Helvetica World"/>
                        </a:rPr>
                        <a:t>2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1E3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0" lang="en-US">
                          <a:solidFill>
                            <a:srgbClr val="000000"/>
                          </a:solidFill>
                          <a:latin typeface="Helvetica World"/>
                        </a:rPr>
                        <a:t>0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1E3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1" lang="en-US">
                          <a:solidFill>
                            <a:srgbClr val="000000"/>
                          </a:solidFill>
                          <a:latin typeface="Helvetica World"/>
                        </a:rPr>
                        <a:t>12×27×27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1E3DE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2400" b="0" lang="en-US">
                          <a:solidFill>
                            <a:srgbClr val="FFFFFF"/>
                          </a:solidFill>
                          <a:latin typeface="Helios Extended"/>
                        </a:rPr>
                        <a:t>5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98C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0" lang="en-US">
                          <a:solidFill>
                            <a:srgbClr val="000000"/>
                          </a:solidFill>
                          <a:latin typeface="Helvetica World"/>
                        </a:rPr>
                        <a:t>MaxPool2d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0" lang="en-US">
                          <a:solidFill>
                            <a:srgbClr val="000000"/>
                          </a:solidFill>
                          <a:latin typeface="Helvetica World"/>
                        </a:rPr>
                        <a:t>Pool-1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0" lang="en-US">
                          <a:solidFill>
                            <a:srgbClr val="000000"/>
                          </a:solidFill>
                          <a:latin typeface="Helvetica World"/>
                        </a:rPr>
                        <a:t>12×27×27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0" lang="en-US">
                          <a:solidFill>
                            <a:srgbClr val="000000"/>
                          </a:solidFill>
                          <a:latin typeface="Helvetica World"/>
                        </a:rPr>
                        <a:t>3×3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0" lang="en-US">
                          <a:solidFill>
                            <a:srgbClr val="555555"/>
                          </a:solidFill>
                          <a:latin typeface="Helvetica World"/>
                        </a:rPr>
                        <a:t>–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0" lang="en-US">
                          <a:solidFill>
                            <a:srgbClr val="000000"/>
                          </a:solidFill>
                          <a:latin typeface="Helvetica World"/>
                        </a:rPr>
                        <a:t>4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0" lang="en-US">
                          <a:solidFill>
                            <a:srgbClr val="000000"/>
                          </a:solidFill>
                          <a:latin typeface="Helvetica World"/>
                        </a:rPr>
                        <a:t>0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1" lang="en-US">
                          <a:solidFill>
                            <a:srgbClr val="000000"/>
                          </a:solidFill>
                          <a:latin typeface="Helvetica World"/>
                        </a:rPr>
                        <a:t>12×7×7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2400" b="0" lang="en-US">
                          <a:solidFill>
                            <a:srgbClr val="FFFFFF"/>
                          </a:solidFill>
                          <a:latin typeface="Helios Extended"/>
                        </a:rPr>
                        <a:t>6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98C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0" lang="en-US">
                          <a:solidFill>
                            <a:srgbClr val="000000"/>
                          </a:solidFill>
                          <a:latin typeface="Helvetica World"/>
                        </a:rPr>
                        <a:t>Flatten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1E3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0" lang="en-US">
                          <a:solidFill>
                            <a:srgbClr val="000000"/>
                          </a:solidFill>
                          <a:latin typeface="Helvetica World"/>
                        </a:rPr>
                        <a:t>Flatten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1E3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0" lang="en-US">
                          <a:solidFill>
                            <a:srgbClr val="000000"/>
                          </a:solidFill>
                          <a:latin typeface="Helvetica World"/>
                        </a:rPr>
                        <a:t>12×7×7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1E3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0" lang="en-US">
                          <a:solidFill>
                            <a:srgbClr val="555555"/>
                          </a:solidFill>
                          <a:latin typeface="Helvetica World"/>
                        </a:rPr>
                        <a:t>–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1E3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0" lang="en-US">
                          <a:solidFill>
                            <a:srgbClr val="555555"/>
                          </a:solidFill>
                          <a:latin typeface="Helvetica World"/>
                        </a:rPr>
                        <a:t>–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1E3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0" lang="en-US">
                          <a:solidFill>
                            <a:srgbClr val="555555"/>
                          </a:solidFill>
                          <a:latin typeface="Helvetica World"/>
                        </a:rPr>
                        <a:t>–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1E3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0" lang="en-US">
                          <a:solidFill>
                            <a:srgbClr val="555555"/>
                          </a:solidFill>
                          <a:latin typeface="Helvetica World"/>
                        </a:rPr>
                        <a:t>–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1E3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1" lang="en-US">
                          <a:solidFill>
                            <a:srgbClr val="000000"/>
                          </a:solidFill>
                          <a:latin typeface="Helvetica World"/>
                        </a:rPr>
                        <a:t>1×588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1E3DE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2400" b="0" lang="en-US">
                          <a:solidFill>
                            <a:srgbClr val="FFFFFF"/>
                          </a:solidFill>
                          <a:latin typeface="Helios Extended"/>
                        </a:rPr>
                        <a:t>7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98C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0" lang="en-US">
                          <a:solidFill>
                            <a:srgbClr val="000000"/>
                          </a:solidFill>
                          <a:latin typeface="Helvetica World"/>
                        </a:rPr>
                        <a:t>Linear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0" lang="en-US">
                          <a:solidFill>
                            <a:srgbClr val="000000"/>
                          </a:solidFill>
                          <a:latin typeface="Helvetica World"/>
                        </a:rPr>
                        <a:t>Dense-1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0" lang="en-US">
                          <a:solidFill>
                            <a:srgbClr val="000000"/>
                          </a:solidFill>
                          <a:latin typeface="Helvetica World"/>
                        </a:rPr>
                        <a:t>1×588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0" lang="en-US">
                          <a:solidFill>
                            <a:srgbClr val="555555"/>
                          </a:solidFill>
                          <a:latin typeface="Helvetica World"/>
                        </a:rPr>
                        <a:t>–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0" lang="en-US">
                          <a:solidFill>
                            <a:srgbClr val="555555"/>
                          </a:solidFill>
                          <a:latin typeface="Helvetica World"/>
                        </a:rPr>
                        <a:t>–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0" lang="en-US">
                          <a:solidFill>
                            <a:srgbClr val="555555"/>
                          </a:solidFill>
                          <a:latin typeface="Helvetica World"/>
                        </a:rPr>
                        <a:t>–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0" lang="en-US">
                          <a:solidFill>
                            <a:srgbClr val="555555"/>
                          </a:solidFill>
                          <a:latin typeface="Helvetica World"/>
                        </a:rPr>
                        <a:t>–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1" lang="en-US">
                          <a:solidFill>
                            <a:srgbClr val="000000"/>
                          </a:solidFill>
                          <a:latin typeface="Helvetica World"/>
                        </a:rPr>
                        <a:t>1×7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ile 1"/>
          <p:cNvSpPr/>
          <p:nvPr/>
        </p:nvSpPr>
        <p:spPr>
          <a:xfrm>
            <a:off x="914400" y="8001000"/>
            <a:ext cx="3072384" cy="960120"/>
          </a:xfrm>
          <a:prstGeom prst="rect">
            <a:avLst/>
          </a:prstGeom>
          <a:solidFill>
            <a:srgbClr val="E1E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8165592"/>
            <a:ext cx="2706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lang="en-US" spc="150">
                <a:solidFill>
                  <a:srgbClr val="555555"/>
                </a:solidFill>
                <a:latin typeface="Helvetica World"/>
              </a:rPr>
              <a:t>LOSS FUNCTION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8458200"/>
            <a:ext cx="270662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lang="en-US">
                <a:solidFill>
                  <a:srgbClr val="000000"/>
                </a:solidFill>
                <a:latin typeface="Helvetica World"/>
              </a:rPr>
              <a:t>Cross-Entropy</a:t>
            </a:r>
          </a:p>
        </p:txBody>
      </p:sp>
      <p:sp>
        <p:nvSpPr>
          <p:cNvPr id="11" name="Tile 2"/>
          <p:cNvSpPr/>
          <p:nvPr/>
        </p:nvSpPr>
        <p:spPr>
          <a:xfrm>
            <a:off x="4261104" y="8001000"/>
            <a:ext cx="3072384" cy="960120"/>
          </a:xfrm>
          <a:prstGeom prst="rect">
            <a:avLst/>
          </a:prstGeom>
          <a:solidFill>
            <a:srgbClr val="E1E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43984" y="8165592"/>
            <a:ext cx="2706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lang="en-US" spc="150">
                <a:solidFill>
                  <a:srgbClr val="555555"/>
                </a:solidFill>
                <a:latin typeface="Helvetica World"/>
              </a:rPr>
              <a:t>OPTIMIZER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3984" y="8458200"/>
            <a:ext cx="270662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lang="en-US">
                <a:solidFill>
                  <a:srgbClr val="000000"/>
                </a:solidFill>
                <a:latin typeface="Helvetica World"/>
              </a:rPr>
              <a:t>SGD (lr 0.003)</a:t>
            </a:r>
          </a:p>
        </p:txBody>
      </p:sp>
      <p:sp>
        <p:nvSpPr>
          <p:cNvPr id="14" name="Tile 3"/>
          <p:cNvSpPr/>
          <p:nvPr/>
        </p:nvSpPr>
        <p:spPr>
          <a:xfrm>
            <a:off x="7607808" y="8001000"/>
            <a:ext cx="3072384" cy="960120"/>
          </a:xfrm>
          <a:prstGeom prst="rect">
            <a:avLst/>
          </a:prstGeom>
          <a:solidFill>
            <a:srgbClr val="E1E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90688" y="8165592"/>
            <a:ext cx="2706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lang="en-US" spc="150">
                <a:solidFill>
                  <a:srgbClr val="555555"/>
                </a:solidFill>
                <a:latin typeface="Helvetica World"/>
              </a:rPr>
              <a:t>BATCH SIZE / EPOCHS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0688" y="8458200"/>
            <a:ext cx="270662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lang="en-US">
                <a:solidFill>
                  <a:srgbClr val="000000"/>
                </a:solidFill>
                <a:latin typeface="Helvetica World"/>
              </a:rPr>
              <a:t>8 / 50</a:t>
            </a:r>
          </a:p>
        </p:txBody>
      </p:sp>
      <p:sp>
        <p:nvSpPr>
          <p:cNvPr id="17" name="Tile 4"/>
          <p:cNvSpPr/>
          <p:nvPr/>
        </p:nvSpPr>
        <p:spPr>
          <a:xfrm>
            <a:off x="10954512" y="8001000"/>
            <a:ext cx="3072384" cy="960120"/>
          </a:xfrm>
          <a:prstGeom prst="rect">
            <a:avLst/>
          </a:prstGeom>
          <a:solidFill>
            <a:srgbClr val="E1E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37392" y="8165592"/>
            <a:ext cx="2706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lang="en-US" spc="150">
                <a:solidFill>
                  <a:srgbClr val="555555"/>
                </a:solidFill>
                <a:latin typeface="Helvetica World"/>
              </a:rPr>
              <a:t>WEIGHT INIT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37392" y="8458200"/>
            <a:ext cx="270662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lang="en-US">
                <a:solidFill>
                  <a:srgbClr val="000000"/>
                </a:solidFill>
                <a:latin typeface="Helvetica World"/>
              </a:rPr>
              <a:t>Xavier uniform</a:t>
            </a:r>
          </a:p>
        </p:txBody>
      </p:sp>
      <p:sp>
        <p:nvSpPr>
          <p:cNvPr id="20" name="Tile 5"/>
          <p:cNvSpPr/>
          <p:nvPr/>
        </p:nvSpPr>
        <p:spPr>
          <a:xfrm>
            <a:off x="14301216" y="8001000"/>
            <a:ext cx="3072384" cy="960120"/>
          </a:xfrm>
          <a:prstGeom prst="rect">
            <a:avLst/>
          </a:prstGeom>
          <a:solidFill>
            <a:srgbClr val="E1E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484096" y="8165592"/>
            <a:ext cx="2706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lang="en-US" spc="150">
                <a:solidFill>
                  <a:srgbClr val="555555"/>
                </a:solidFill>
                <a:latin typeface="Helvetica World"/>
              </a:rPr>
              <a:t>TRAINABLE PARAMS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484096" y="8458200"/>
            <a:ext cx="270662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lang="en-US">
                <a:solidFill>
                  <a:srgbClr val="000000"/>
                </a:solidFill>
                <a:latin typeface="Helvetica World"/>
              </a:rPr>
              <a:t>5,035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1028700" y="777240"/>
            <a:ext cx="162306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0" lang="en-US" spc="-300">
                <a:solidFill>
                  <a:srgbClr val="000000"/>
                </a:solidFill>
                <a:latin typeface="Helios Extended"/>
              </a:rPr>
              <a:t>Results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1028700" y="1828800"/>
            <a:ext cx="16230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lang="en-US">
                <a:solidFill>
                  <a:srgbClr val="555555"/>
                </a:solidFill>
                <a:latin typeface="Helvetica World"/>
              </a:rPr>
              <a:t>Trained for 50 epochs; the checkpoint with the best validation accuracy was tested on 616 test images</a:t>
            </a:r>
          </a:p>
        </p:txBody>
      </p:sp>
      <p:sp>
        <p:nvSpPr>
          <p:cNvPr id="4" name="Footer left"/>
          <p:cNvSpPr txBox="1"/>
          <p:nvPr/>
        </p:nvSpPr>
        <p:spPr>
          <a:xfrm>
            <a:off x="1028700" y="93451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lang="en-US" spc="279">
                <a:solidFill>
                  <a:srgbClr val="000000"/>
                </a:solidFill>
                <a:latin typeface="Helvetica World"/>
              </a:rPr>
              <a:t>CARS CLASSIFICATION · WEEK 2</a:t>
            </a:r>
          </a:p>
        </p:txBody>
      </p:sp>
      <p:sp>
        <p:nvSpPr>
          <p:cNvPr id="5" name="Footer right"/>
          <p:cNvSpPr txBox="1"/>
          <p:nvPr/>
        </p:nvSpPr>
        <p:spPr>
          <a:xfrm>
            <a:off x="9944100" y="93451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0" lang="en-US" spc="279">
                <a:solidFill>
                  <a:srgbClr val="000000"/>
                </a:solidFill>
                <a:latin typeface="Helvetica World"/>
              </a:rPr>
              <a:t>MISA INTERNSHIP</a:t>
            </a:r>
          </a:p>
        </p:txBody>
      </p:sp>
      <p:sp>
        <p:nvSpPr>
          <p:cNvPr id="6" name="Footer bar"/>
          <p:cNvSpPr/>
          <p:nvPr/>
        </p:nvSpPr>
        <p:spPr>
          <a:xfrm>
            <a:off x="0" y="9925812"/>
            <a:ext cx="18288000" cy="361188"/>
          </a:xfrm>
          <a:prstGeom prst="rect">
            <a:avLst/>
          </a:prstGeom>
          <a:solidFill>
            <a:srgbClr val="98C4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hart heading"/>
          <p:cNvSpPr txBox="1"/>
          <p:nvPr/>
        </p:nvSpPr>
        <p:spPr>
          <a:xfrm>
            <a:off x="914400" y="2606040"/>
            <a:ext cx="7863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lang="en-US">
                <a:solidFill>
                  <a:srgbClr val="000000"/>
                </a:solidFill>
                <a:latin typeface="Helvetica World"/>
              </a:rPr>
              <a:t>Validation accuracy over 50 epochs</a:t>
            </a:r>
          </a:p>
        </p:txBody>
      </p:sp>
      <p:graphicFrame>
        <p:nvGraphicFramePr>
          <p:cNvPr id="8" name="Validation accuracy chart"/>
          <p:cNvGraphicFramePr>
            <a:graphicFrameLocks noGrp="1"/>
          </p:cNvGraphicFramePr>
          <p:nvPr/>
        </p:nvGraphicFramePr>
        <p:xfrm>
          <a:off x="914400" y="3017520"/>
          <a:ext cx="786384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Stat val"/>
          <p:cNvSpPr/>
          <p:nvPr/>
        </p:nvSpPr>
        <p:spPr>
          <a:xfrm>
            <a:off x="914400" y="7269480"/>
            <a:ext cx="3794759" cy="1371600"/>
          </a:xfrm>
          <a:prstGeom prst="rect">
            <a:avLst/>
          </a:prstGeom>
          <a:solidFill>
            <a:srgbClr val="E1E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7434072"/>
            <a:ext cx="3337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lang="en-US" spc="150">
                <a:solidFill>
                  <a:srgbClr val="555555"/>
                </a:solidFill>
                <a:latin typeface="Helvetica World"/>
              </a:rPr>
              <a:t>BEST VALIDATION 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7726679"/>
            <a:ext cx="3337559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0" lang="en-US" spc="-100">
                <a:solidFill>
                  <a:srgbClr val="000000"/>
                </a:solidFill>
                <a:latin typeface="Helios Extended"/>
              </a:rPr>
              <a:t>≈ 90%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8275320"/>
            <a:ext cx="3337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lang="en-US">
                <a:solidFill>
                  <a:srgbClr val="555555"/>
                </a:solidFill>
                <a:latin typeface="Helvetica World"/>
              </a:rPr>
              <a:t>at epoch 48 of 50</a:t>
            </a:r>
          </a:p>
        </p:txBody>
      </p:sp>
      <p:sp>
        <p:nvSpPr>
          <p:cNvPr id="13" name="Stat test"/>
          <p:cNvSpPr/>
          <p:nvPr/>
        </p:nvSpPr>
        <p:spPr>
          <a:xfrm>
            <a:off x="4983479" y="7269480"/>
            <a:ext cx="3794759" cy="1371600"/>
          </a:xfrm>
          <a:prstGeom prst="rect">
            <a:avLst/>
          </a:prstGeom>
          <a:solidFill>
            <a:srgbClr val="E1E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9" y="7434072"/>
            <a:ext cx="3337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lang="en-US" spc="150">
                <a:solidFill>
                  <a:srgbClr val="555555"/>
                </a:solidFill>
                <a:latin typeface="Helvetica World"/>
              </a:rPr>
              <a:t>TEST ACCURACY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9" y="7726679"/>
            <a:ext cx="3337559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0" lang="en-US" spc="-100">
                <a:solidFill>
                  <a:srgbClr val="000000"/>
                </a:solidFill>
                <a:latin typeface="Helios Extended"/>
              </a:rPr>
              <a:t>49.2%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79" y="8275320"/>
            <a:ext cx="3337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lang="en-US">
                <a:solidFill>
                  <a:srgbClr val="555555"/>
                </a:solidFill>
                <a:latin typeface="Helvetica World"/>
              </a:rPr>
              <a:t>303 of 616 test images correct</a:t>
            </a:r>
          </a:p>
        </p:txBody>
      </p:sp>
      <p:sp>
        <p:nvSpPr>
          <p:cNvPr id="17" name="Matrix heading"/>
          <p:cNvSpPr txBox="1"/>
          <p:nvPr/>
        </p:nvSpPr>
        <p:spPr>
          <a:xfrm>
            <a:off x="9326880" y="2606040"/>
            <a:ext cx="8046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lang="en-US">
                <a:solidFill>
                  <a:srgbClr val="000000"/>
                </a:solidFill>
                <a:latin typeface="Helvetica World"/>
              </a:rPr>
              <a:t>Confusion matrix on the test set (best epoch)</a:t>
            </a:r>
          </a:p>
        </p:txBody>
      </p:sp>
      <p:graphicFrame>
        <p:nvGraphicFramePr>
          <p:cNvPr id="18" name="Confusion matrix"/>
          <p:cNvGraphicFramePr>
            <a:graphicFrameLocks noGrp="1"/>
          </p:cNvGraphicFramePr>
          <p:nvPr/>
        </p:nvGraphicFramePr>
        <p:xfrm>
          <a:off x="9326880" y="3017520"/>
          <a:ext cx="8046720" cy="3895344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1371600"/>
                <a:gridCol w="731520"/>
                <a:gridCol w="731520"/>
                <a:gridCol w="731520"/>
                <a:gridCol w="731520"/>
                <a:gridCol w="731520"/>
                <a:gridCol w="731520"/>
                <a:gridCol w="731520"/>
                <a:gridCol w="1554480"/>
              </a:tblGrid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en-US">
                          <a:solidFill>
                            <a:srgbClr val="FFFFFF"/>
                          </a:solidFill>
                          <a:latin typeface="Helvetica World"/>
                        </a:rPr>
                        <a:t>Actual ↓</a:t>
                      </a:r>
                    </a:p>
                    <a:p>
                      <a:pPr algn="ctr"/>
                      <a:r>
                        <a:rPr sz="1400" b="1" lang="en-US">
                          <a:solidFill>
                            <a:srgbClr val="FFFFFF"/>
                          </a:solidFill>
                          <a:latin typeface="Helvetica World"/>
                        </a:rPr>
                        <a:t>Predicted →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400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 lang="en-US">
                          <a:solidFill>
                            <a:srgbClr val="FFFFFF"/>
                          </a:solidFill>
                          <a:latin typeface="Helvetica World"/>
                        </a:rPr>
                        <a:t>0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400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 lang="en-US">
                          <a:solidFill>
                            <a:srgbClr val="FFFFFF"/>
                          </a:solidFill>
                          <a:latin typeface="Helvetica World"/>
                        </a:rPr>
                        <a:t>1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400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 lang="en-US">
                          <a:solidFill>
                            <a:srgbClr val="FFFFFF"/>
                          </a:solidFill>
                          <a:latin typeface="Helvetica World"/>
                        </a:rPr>
                        <a:t>2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400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 lang="en-US">
                          <a:solidFill>
                            <a:srgbClr val="FFFFFF"/>
                          </a:solidFill>
                          <a:latin typeface="Helvetica World"/>
                        </a:rPr>
                        <a:t>3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400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 lang="en-US">
                          <a:solidFill>
                            <a:srgbClr val="FFFFFF"/>
                          </a:solidFill>
                          <a:latin typeface="Helvetica World"/>
                        </a:rPr>
                        <a:t>4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400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 lang="en-US">
                          <a:solidFill>
                            <a:srgbClr val="FFFFFF"/>
                          </a:solidFill>
                          <a:latin typeface="Helvetica World"/>
                        </a:rPr>
                        <a:t>5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400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 lang="en-US">
                          <a:solidFill>
                            <a:srgbClr val="FFFFFF"/>
                          </a:solidFill>
                          <a:latin typeface="Helvetica World"/>
                        </a:rPr>
                        <a:t>6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400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 lang="en-US">
                          <a:solidFill>
                            <a:srgbClr val="FFFFFF"/>
                          </a:solidFill>
                          <a:latin typeface="Helvetica World"/>
                        </a:rPr>
                        <a:t>Accuracy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40011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2000" b="1" lang="en-US">
                          <a:solidFill>
                            <a:srgbClr val="000000"/>
                          </a:solidFill>
                          <a:latin typeface="Helvetica World"/>
                        </a:rPr>
                        <a:t>Class 0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1E3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 lang="en-US">
                          <a:solidFill>
                            <a:srgbClr val="000000"/>
                          </a:solidFill>
                          <a:latin typeface="Helvetica World"/>
                        </a:rPr>
                        <a:t>39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98C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 lang="en-US">
                          <a:solidFill>
                            <a:srgbClr val="555555"/>
                          </a:solidFill>
                          <a:latin typeface="Helvetica World"/>
                        </a:rPr>
                        <a:t>8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 lang="en-US">
                          <a:solidFill>
                            <a:srgbClr val="555555"/>
                          </a:solidFill>
                          <a:latin typeface="Helvetica World"/>
                        </a:rPr>
                        <a:t>8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 lang="en-US">
                          <a:solidFill>
                            <a:srgbClr val="555555"/>
                          </a:solidFill>
                          <a:latin typeface="Helvetica World"/>
                        </a:rPr>
                        <a:t>11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 lang="en-US">
                          <a:solidFill>
                            <a:srgbClr val="555555"/>
                          </a:solidFill>
                          <a:latin typeface="Helvetica World"/>
                        </a:rPr>
                        <a:t>14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 lang="en-US">
                          <a:solidFill>
                            <a:srgbClr val="555555"/>
                          </a:solidFill>
                          <a:latin typeface="Helvetica World"/>
                        </a:rPr>
                        <a:t>18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 lang="en-US">
                          <a:solidFill>
                            <a:srgbClr val="555555"/>
                          </a:solidFill>
                          <a:latin typeface="Helvetica World"/>
                        </a:rPr>
                        <a:t>2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 lang="en-US">
                          <a:solidFill>
                            <a:srgbClr val="000000"/>
                          </a:solidFill>
                          <a:latin typeface="Helvetica World"/>
                        </a:rPr>
                        <a:t>39%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1E3DE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2000" b="1" lang="en-US">
                          <a:solidFill>
                            <a:srgbClr val="000000"/>
                          </a:solidFill>
                          <a:latin typeface="Helvetica World"/>
                        </a:rPr>
                        <a:t>Class 1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1E3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 lang="en-US">
                          <a:solidFill>
                            <a:srgbClr val="555555"/>
                          </a:solidFill>
                          <a:latin typeface="Helvetica World"/>
                        </a:rPr>
                        <a:t>6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 lang="en-US">
                          <a:solidFill>
                            <a:srgbClr val="000000"/>
                          </a:solidFill>
                          <a:latin typeface="Helvetica World"/>
                        </a:rPr>
                        <a:t>37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98C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 lang="en-US">
                          <a:solidFill>
                            <a:srgbClr val="555555"/>
                          </a:solidFill>
                          <a:latin typeface="Helvetica World"/>
                        </a:rPr>
                        <a:t>1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 lang="en-US">
                          <a:solidFill>
                            <a:srgbClr val="555555"/>
                          </a:solidFill>
                          <a:latin typeface="Helvetica World"/>
                        </a:rPr>
                        <a:t>2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 lang="en-US">
                          <a:solidFill>
                            <a:srgbClr val="555555"/>
                          </a:solidFill>
                          <a:latin typeface="Helvetica World"/>
                        </a:rPr>
                        <a:t>13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 lang="en-US">
                          <a:solidFill>
                            <a:srgbClr val="555555"/>
                          </a:solidFill>
                          <a:latin typeface="Helvetica World"/>
                        </a:rPr>
                        <a:t>5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 lang="en-US">
                          <a:solidFill>
                            <a:srgbClr val="555555"/>
                          </a:solidFill>
                          <a:latin typeface="Helvetica World"/>
                        </a:rPr>
                        <a:t>3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 lang="en-US">
                          <a:solidFill>
                            <a:srgbClr val="000000"/>
                          </a:solidFill>
                          <a:latin typeface="Helvetica World"/>
                        </a:rPr>
                        <a:t>55%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1E3DE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2000" b="1" lang="en-US">
                          <a:solidFill>
                            <a:srgbClr val="000000"/>
                          </a:solidFill>
                          <a:latin typeface="Helvetica World"/>
                        </a:rPr>
                        <a:t>Class 2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1E3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 lang="en-US">
                          <a:solidFill>
                            <a:srgbClr val="555555"/>
                          </a:solidFill>
                          <a:latin typeface="Helvetica World"/>
                        </a:rPr>
                        <a:t>7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 lang="en-US">
                          <a:solidFill>
                            <a:srgbClr val="555555"/>
                          </a:solidFill>
                          <a:latin typeface="Helvetica World"/>
                        </a:rPr>
                        <a:t>4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 lang="en-US">
                          <a:solidFill>
                            <a:srgbClr val="000000"/>
                          </a:solidFill>
                          <a:latin typeface="Helvetica World"/>
                        </a:rPr>
                        <a:t>31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98C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 lang="en-US">
                          <a:solidFill>
                            <a:srgbClr val="555555"/>
                          </a:solidFill>
                          <a:latin typeface="Helvetica World"/>
                        </a:rPr>
                        <a:t>11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 lang="en-US">
                          <a:solidFill>
                            <a:srgbClr val="555555"/>
                          </a:solidFill>
                          <a:latin typeface="Helvetica World"/>
                        </a:rPr>
                        <a:t>9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 lang="en-US">
                          <a:solidFill>
                            <a:srgbClr val="555555"/>
                          </a:solidFill>
                          <a:latin typeface="Helvetica World"/>
                        </a:rPr>
                        <a:t>4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 lang="en-US">
                          <a:solidFill>
                            <a:srgbClr val="555555"/>
                          </a:solidFill>
                          <a:latin typeface="Helvetica World"/>
                        </a:rPr>
                        <a:t>9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 lang="en-US">
                          <a:solidFill>
                            <a:srgbClr val="000000"/>
                          </a:solidFill>
                          <a:latin typeface="Helvetica World"/>
                        </a:rPr>
                        <a:t>41%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1E3DE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2000" b="1" lang="en-US">
                          <a:solidFill>
                            <a:srgbClr val="000000"/>
                          </a:solidFill>
                          <a:latin typeface="Helvetica World"/>
                        </a:rPr>
                        <a:t>Class 3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1E3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 lang="en-US">
                          <a:solidFill>
                            <a:srgbClr val="555555"/>
                          </a:solidFill>
                          <a:latin typeface="Helvetica World"/>
                        </a:rPr>
                        <a:t>17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 lang="en-US">
                          <a:solidFill>
                            <a:srgbClr val="555555"/>
                          </a:solidFill>
                          <a:latin typeface="Helvetica World"/>
                        </a:rPr>
                        <a:t>5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 lang="en-US">
                          <a:solidFill>
                            <a:srgbClr val="555555"/>
                          </a:solidFill>
                          <a:latin typeface="Helvetica World"/>
                        </a:rPr>
                        <a:t>9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 lang="en-US">
                          <a:solidFill>
                            <a:srgbClr val="000000"/>
                          </a:solidFill>
                          <a:latin typeface="Helvetica World"/>
                        </a:rPr>
                        <a:t>21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98C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 lang="en-US">
                          <a:solidFill>
                            <a:srgbClr val="555555"/>
                          </a:solidFill>
                          <a:latin typeface="Helvetica World"/>
                        </a:rPr>
                        <a:t>7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 lang="en-US">
                          <a:solidFill>
                            <a:srgbClr val="555555"/>
                          </a:solidFill>
                          <a:latin typeface="Helvetica World"/>
                        </a:rPr>
                        <a:t>9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 lang="en-US">
                          <a:solidFill>
                            <a:srgbClr val="555555"/>
                          </a:solidFill>
                          <a:latin typeface="Helvetica World"/>
                        </a:rPr>
                        <a:t>6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 lang="en-US">
                          <a:solidFill>
                            <a:srgbClr val="000000"/>
                          </a:solidFill>
                          <a:latin typeface="Helvetica World"/>
                        </a:rPr>
                        <a:t>28%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1E3DE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2000" b="1" lang="en-US">
                          <a:solidFill>
                            <a:srgbClr val="000000"/>
                          </a:solidFill>
                          <a:latin typeface="Helvetica World"/>
                        </a:rPr>
                        <a:t>Class 4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1E3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 lang="en-US">
                          <a:solidFill>
                            <a:srgbClr val="555555"/>
                          </a:solidFill>
                          <a:latin typeface="Helvetica World"/>
                        </a:rPr>
                        <a:t>2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 lang="en-US">
                          <a:solidFill>
                            <a:srgbClr val="555555"/>
                          </a:solidFill>
                          <a:latin typeface="Helvetica World"/>
                        </a:rPr>
                        <a:t>4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 lang="en-US">
                          <a:solidFill>
                            <a:srgbClr val="555555"/>
                          </a:solidFill>
                          <a:latin typeface="Helvetica World"/>
                        </a:rPr>
                        <a:t>3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 lang="en-US">
                          <a:solidFill>
                            <a:srgbClr val="555555"/>
                          </a:solidFill>
                          <a:latin typeface="Helvetica World"/>
                        </a:rPr>
                        <a:t>5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 lang="en-US">
                          <a:solidFill>
                            <a:srgbClr val="000000"/>
                          </a:solidFill>
                          <a:latin typeface="Helvetica World"/>
                        </a:rPr>
                        <a:t>68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98C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 lang="en-US">
                          <a:solidFill>
                            <a:srgbClr val="555555"/>
                          </a:solidFill>
                          <a:latin typeface="Helvetica World"/>
                        </a:rPr>
                        <a:t>7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 lang="en-US">
                          <a:solidFill>
                            <a:srgbClr val="555555"/>
                          </a:solidFill>
                          <a:latin typeface="Helvetica World"/>
                        </a:rPr>
                        <a:t>11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 lang="en-US">
                          <a:solidFill>
                            <a:srgbClr val="000000"/>
                          </a:solidFill>
                          <a:latin typeface="Helvetica World"/>
                        </a:rPr>
                        <a:t>68%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1E3DE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2000" b="1" lang="en-US">
                          <a:solidFill>
                            <a:srgbClr val="000000"/>
                          </a:solidFill>
                          <a:latin typeface="Helvetica World"/>
                        </a:rPr>
                        <a:t>Class 5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1E3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 lang="en-US">
                          <a:solidFill>
                            <a:srgbClr val="555555"/>
                          </a:solidFill>
                          <a:latin typeface="Helvetica World"/>
                        </a:rPr>
                        <a:t>11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 lang="en-US">
                          <a:solidFill>
                            <a:srgbClr val="555555"/>
                          </a:solidFill>
                          <a:latin typeface="Helvetica World"/>
                        </a:rPr>
                        <a:t>3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 lang="en-US">
                          <a:solidFill>
                            <a:srgbClr val="555555"/>
                          </a:solidFill>
                          <a:latin typeface="Helvetica World"/>
                        </a:rPr>
                        <a:t>3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 lang="en-US">
                          <a:solidFill>
                            <a:srgbClr val="555555"/>
                          </a:solidFill>
                          <a:latin typeface="Helvetica World"/>
                        </a:rPr>
                        <a:t>4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 lang="en-US">
                          <a:solidFill>
                            <a:srgbClr val="555555"/>
                          </a:solidFill>
                          <a:latin typeface="Helvetica World"/>
                        </a:rPr>
                        <a:t>8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 lang="en-US">
                          <a:solidFill>
                            <a:srgbClr val="000000"/>
                          </a:solidFill>
                          <a:latin typeface="Helvetica World"/>
                        </a:rPr>
                        <a:t>67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98C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 lang="en-US">
                          <a:solidFill>
                            <a:srgbClr val="555555"/>
                          </a:solidFill>
                          <a:latin typeface="Helvetica World"/>
                        </a:rPr>
                        <a:t>4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 lang="en-US">
                          <a:solidFill>
                            <a:srgbClr val="000000"/>
                          </a:solidFill>
                          <a:latin typeface="Helvetica World"/>
                        </a:rPr>
                        <a:t>67%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1E3DE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2000" b="1" lang="en-US">
                          <a:solidFill>
                            <a:srgbClr val="000000"/>
                          </a:solidFill>
                          <a:latin typeface="Helvetica World"/>
                        </a:rPr>
                        <a:t>Class 6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1E3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 lang="en-US">
                          <a:solidFill>
                            <a:srgbClr val="555555"/>
                          </a:solidFill>
                          <a:latin typeface="Helvetica World"/>
                        </a:rPr>
                        <a:t>12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 lang="en-US">
                          <a:solidFill>
                            <a:srgbClr val="555555"/>
                          </a:solidFill>
                          <a:latin typeface="Helvetica World"/>
                        </a:rPr>
                        <a:t>12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 lang="en-US">
                          <a:solidFill>
                            <a:srgbClr val="555555"/>
                          </a:solidFill>
                          <a:latin typeface="Helvetica World"/>
                        </a:rPr>
                        <a:t>9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 lang="en-US">
                          <a:solidFill>
                            <a:srgbClr val="555555"/>
                          </a:solidFill>
                          <a:latin typeface="Helvetica World"/>
                        </a:rPr>
                        <a:t>3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 lang="en-US">
                          <a:solidFill>
                            <a:srgbClr val="555555"/>
                          </a:solidFill>
                          <a:latin typeface="Helvetica World"/>
                        </a:rPr>
                        <a:t>17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 lang="en-US">
                          <a:solidFill>
                            <a:srgbClr val="555555"/>
                          </a:solidFill>
                          <a:latin typeface="Helvetica World"/>
                        </a:rPr>
                        <a:t>7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 lang="en-US">
                          <a:solidFill>
                            <a:srgbClr val="000000"/>
                          </a:solidFill>
                          <a:latin typeface="Helvetica World"/>
                        </a:rPr>
                        <a:t>40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98C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 lang="en-US">
                          <a:solidFill>
                            <a:srgbClr val="000000"/>
                          </a:solidFill>
                          <a:latin typeface="Helvetica World"/>
                        </a:rPr>
                        <a:t>40%</a:t>
                      </a:r>
                    </a:p>
                  </a:txBody>
                  <a:tcPr anchor="ctr" marL="73152" marR="73152" marT="27432" marB="27432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1E3DE"/>
                    </a:solidFill>
                  </a:tcPr>
                </a:tc>
              </a:tr>
            </a:tbl>
          </a:graphicData>
        </a:graphic>
      </p:graphicFrame>
      <p:sp>
        <p:nvSpPr>
          <p:cNvPr id="19" name="Takeaway box"/>
          <p:cNvSpPr/>
          <p:nvPr/>
        </p:nvSpPr>
        <p:spPr>
          <a:xfrm>
            <a:off x="9326880" y="7269480"/>
            <a:ext cx="8046720" cy="1371600"/>
          </a:xfrm>
          <a:prstGeom prst="rect">
            <a:avLst/>
          </a:prstGeom>
          <a:solidFill>
            <a:srgbClr val="E1E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akeaways"/>
          <p:cNvSpPr txBox="1"/>
          <p:nvPr/>
        </p:nvSpPr>
        <p:spPr>
          <a:xfrm>
            <a:off x="9601200" y="7269480"/>
            <a:ext cx="749808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320040" indent="-320040">
              <a:spcAft>
                <a:spcPts val="600"/>
              </a:spcAft>
              <a:buFont typeface="Arial"/>
              <a:buChar char="•"/>
            </a:pPr>
            <a:r>
              <a:rPr sz="1900" b="0" lang="en-US">
                <a:solidFill>
                  <a:srgbClr val="000000"/>
                </a:solidFill>
                <a:latin typeface="Helvetica World"/>
              </a:rPr>
              <a:t>Classes 4 and 5 are recognised best (68% and 67%); class 3 is weakest (28%) and is often confused with class 0.</a:t>
            </a:r>
          </a:p>
          <a:p>
            <a:pPr algn="l" marL="320040" indent="-320040">
              <a:buFont typeface="Arial"/>
              <a:buChar char="•"/>
            </a:pPr>
            <a:r>
              <a:rPr sz="1900" b="0" lang="en-US">
                <a:solidFill>
                  <a:srgbClr val="000000"/>
                </a:solidFill>
                <a:latin typeface="Helvetica World"/>
              </a:rPr>
              <a:t>Validation ≈ 90% but test only 49.2% → the model overfits; next steps: data augmentation, dropout, a deeper network.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1028700" y="777240"/>
            <a:ext cx="162306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0" lang="en-US" spc="-300">
                <a:solidFill>
                  <a:srgbClr val="000000"/>
                </a:solidFill>
                <a:latin typeface="Helios Extended"/>
              </a:rPr>
              <a:t>Natural Language Processing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1028700" y="1828800"/>
            <a:ext cx="16230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lang="en-US">
                <a:solidFill>
                  <a:srgbClr val="555555"/>
                </a:solidFill>
                <a:latin typeface="Helvetica World"/>
              </a:rPr>
              <a:t>Hands-on coding: word types &amp; NER with spaCy, and review sentiment with TF-IDF + classic ML</a:t>
            </a:r>
          </a:p>
        </p:txBody>
      </p:sp>
      <p:sp>
        <p:nvSpPr>
          <p:cNvPr id="4" name="Footer left"/>
          <p:cNvSpPr txBox="1"/>
          <p:nvPr/>
        </p:nvSpPr>
        <p:spPr>
          <a:xfrm>
            <a:off x="1028700" y="93451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lang="en-US" spc="279">
                <a:solidFill>
                  <a:srgbClr val="000000"/>
                </a:solidFill>
                <a:latin typeface="Helvetica World"/>
              </a:rPr>
              <a:t>NLP PROJECTS</a:t>
            </a:r>
          </a:p>
        </p:txBody>
      </p:sp>
      <p:sp>
        <p:nvSpPr>
          <p:cNvPr id="5" name="Footer right"/>
          <p:cNvSpPr txBox="1"/>
          <p:nvPr/>
        </p:nvSpPr>
        <p:spPr>
          <a:xfrm>
            <a:off x="9944100" y="93451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0" lang="en-US" spc="279">
                <a:solidFill>
                  <a:srgbClr val="000000"/>
                </a:solidFill>
                <a:latin typeface="Helvetica World"/>
              </a:rPr>
              <a:t>MISA INTERNSHIP</a:t>
            </a:r>
          </a:p>
        </p:txBody>
      </p:sp>
      <p:sp>
        <p:nvSpPr>
          <p:cNvPr id="6" name="Footer bar"/>
          <p:cNvSpPr/>
          <p:nvPr/>
        </p:nvSpPr>
        <p:spPr>
          <a:xfrm>
            <a:off x="0" y="9925812"/>
            <a:ext cx="18288000" cy="361188"/>
          </a:xfrm>
          <a:prstGeom prst="rect">
            <a:avLst/>
          </a:prstGeom>
          <a:solidFill>
            <a:srgbClr val="D400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"/>
          <p:cNvSpPr/>
          <p:nvPr/>
        </p:nvSpPr>
        <p:spPr>
          <a:xfrm>
            <a:off x="914400" y="2606040"/>
            <a:ext cx="7955279" cy="6309360"/>
          </a:xfrm>
          <a:prstGeom prst="rect">
            <a:avLst/>
          </a:prstGeom>
          <a:solidFill>
            <a:srgbClr val="E1E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 1 badge"/>
          <p:cNvSpPr/>
          <p:nvPr/>
        </p:nvSpPr>
        <p:spPr>
          <a:xfrm>
            <a:off x="1234440" y="2880360"/>
            <a:ext cx="640080" cy="640080"/>
          </a:xfrm>
          <a:prstGeom prst="rect">
            <a:avLst/>
          </a:prstGeom>
          <a:solidFill>
            <a:srgbClr val="98C4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288036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0" lang="en-US">
                <a:solidFill>
                  <a:srgbClr val="FFFFFF"/>
                </a:solidFill>
                <a:latin typeface="Helios Extende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2880360"/>
            <a:ext cx="6492239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 lang="en-US">
                <a:solidFill>
                  <a:srgbClr val="000000"/>
                </a:solidFill>
                <a:latin typeface="Helvetica World"/>
              </a:rPr>
              <a:t>Word types &amp; Named Entity Recognition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703320"/>
            <a:ext cx="7315199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320040" indent="-320040">
              <a:spcAft>
                <a:spcPts val="800"/>
              </a:spcAft>
              <a:buFont typeface="Arial"/>
              <a:buChar char="•"/>
            </a:pPr>
            <a:r>
              <a:rPr sz="2000" b="0" lang="en-US">
                <a:solidFill>
                  <a:srgbClr val="000000"/>
                </a:solidFill>
                <a:latin typeface="Helvetica World"/>
              </a:rPr>
              <a:t>Built and trained a Sequential neural network to classify words into different types</a:t>
            </a:r>
          </a:p>
          <a:p>
            <a:pPr algn="l" marL="320040" indent="-320040">
              <a:spcAft>
                <a:spcPts val="800"/>
              </a:spcAft>
              <a:buFont typeface="Arial"/>
              <a:buChar char="•"/>
            </a:pPr>
            <a:r>
              <a:rPr sz="2000" b="0" lang="en-US">
                <a:solidFill>
                  <a:srgbClr val="000000"/>
                </a:solidFill>
                <a:latin typeface="Helvetica World"/>
              </a:rPr>
              <a:t>Loaded spaCy's pretrained pipeline as a Named Entity Recognizer to show those types in real text</a:t>
            </a:r>
          </a:p>
        </p:txBody>
      </p:sp>
      <p:sp>
        <p:nvSpPr>
          <p:cNvPr id="12" name="Card 1 code"/>
          <p:cNvSpPr/>
          <p:nvPr/>
        </p:nvSpPr>
        <p:spPr>
          <a:xfrm>
            <a:off x="1234440" y="5257800"/>
            <a:ext cx="7315199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20" y="5257800"/>
            <a:ext cx="6949439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lang="en-US">
                <a:solidFill>
                  <a:srgbClr val="000000"/>
                </a:solidFill>
                <a:latin typeface="Courier New"/>
              </a:rPr>
              <a:t>nlp = spacy.load('en_core_web_sm')</a:t>
            </a:r>
          </a:p>
          <a:p>
            <a:pPr algn="l"/>
            <a:r>
              <a:rPr sz="1600" b="0" lang="en-US">
                <a:solidFill>
                  <a:srgbClr val="000000"/>
                </a:solidFill>
                <a:latin typeface="Courier New"/>
              </a:rPr>
              <a:t>displacy.render(nlp(text), style='ent')</a:t>
            </a:r>
          </a:p>
        </p:txBody>
      </p:sp>
      <p:pic>
        <p:nvPicPr>
          <p:cNvPr id="14" name="NER example" descr="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6217920"/>
            <a:ext cx="7315199" cy="905043"/>
          </a:xfrm>
          <a:prstGeom prst="rect">
            <a:avLst/>
          </a:prstGeom>
        </p:spPr>
      </p:pic>
      <p:sp>
        <p:nvSpPr>
          <p:cNvPr id="15" name="NER caption"/>
          <p:cNvSpPr txBox="1"/>
          <p:nvPr/>
        </p:nvSpPr>
        <p:spPr>
          <a:xfrm>
            <a:off x="1234440" y="7232691"/>
            <a:ext cx="731519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lang="en-US">
                <a:solidFill>
                  <a:srgbClr val="555555"/>
                </a:solidFill>
                <a:latin typeface="Helvetica World"/>
              </a:rPr>
              <a:t>displaCy output of en_core_web_sm on a tech-news sentence. The small model still slips: 'Optimizer' is tagged GPE.</a:t>
            </a:r>
          </a:p>
        </p:txBody>
      </p:sp>
      <p:sp>
        <p:nvSpPr>
          <p:cNvPr id="16" name="Entity PRODUCT"/>
          <p:cNvSpPr/>
          <p:nvPr/>
        </p:nvSpPr>
        <p:spPr>
          <a:xfrm>
            <a:off x="1234440" y="8092440"/>
            <a:ext cx="1691639" cy="548640"/>
          </a:xfrm>
          <a:prstGeom prst="rect">
            <a:avLst/>
          </a:prstGeom>
          <a:solidFill>
            <a:srgbClr val="BFEE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8092440"/>
            <a:ext cx="150875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lang="en-US">
                <a:solidFill>
                  <a:srgbClr val="000000"/>
                </a:solidFill>
                <a:latin typeface="Helvetica World"/>
              </a:rPr>
              <a:t>PRODUCT</a:t>
            </a:r>
          </a:p>
          <a:p>
            <a:pPr algn="ctr"/>
            <a:r>
              <a:rPr sz="1400" b="0" lang="en-US">
                <a:solidFill>
                  <a:srgbClr val="000000"/>
                </a:solidFill>
                <a:latin typeface="Helvetica World"/>
              </a:rPr>
              <a:t>products, software</a:t>
            </a:r>
          </a:p>
        </p:txBody>
      </p:sp>
      <p:sp>
        <p:nvSpPr>
          <p:cNvPr id="18" name="Entity ORG"/>
          <p:cNvSpPr/>
          <p:nvPr/>
        </p:nvSpPr>
        <p:spPr>
          <a:xfrm>
            <a:off x="3108960" y="8092440"/>
            <a:ext cx="1691639" cy="548640"/>
          </a:xfrm>
          <a:prstGeom prst="rect">
            <a:avLst/>
          </a:prstGeom>
          <a:solidFill>
            <a:srgbClr val="7AEC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0" y="8092440"/>
            <a:ext cx="150875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lang="en-US">
                <a:solidFill>
                  <a:srgbClr val="000000"/>
                </a:solidFill>
                <a:latin typeface="Helvetica World"/>
              </a:rPr>
              <a:t>ORG</a:t>
            </a:r>
          </a:p>
          <a:p>
            <a:pPr algn="ctr"/>
            <a:r>
              <a:rPr sz="1400" b="0" lang="en-US">
                <a:solidFill>
                  <a:srgbClr val="000000"/>
                </a:solidFill>
                <a:latin typeface="Helvetica World"/>
              </a:rPr>
              <a:t>companies, groups</a:t>
            </a:r>
          </a:p>
        </p:txBody>
      </p:sp>
      <p:sp>
        <p:nvSpPr>
          <p:cNvPr id="20" name="Entity WORK_OF_ART"/>
          <p:cNvSpPr/>
          <p:nvPr/>
        </p:nvSpPr>
        <p:spPr>
          <a:xfrm>
            <a:off x="4983479" y="8092440"/>
            <a:ext cx="1691639" cy="548640"/>
          </a:xfrm>
          <a:prstGeom prst="rect">
            <a:avLst/>
          </a:prstGeom>
          <a:solidFill>
            <a:srgbClr val="F0D0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74919" y="8092440"/>
            <a:ext cx="150875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lang="en-US">
                <a:solidFill>
                  <a:srgbClr val="000000"/>
                </a:solidFill>
                <a:latin typeface="Helvetica World"/>
              </a:rPr>
              <a:t>WORK_OF_ART</a:t>
            </a:r>
          </a:p>
          <a:p>
            <a:pPr algn="ctr"/>
            <a:r>
              <a:rPr sz="1400" b="0" lang="en-US">
                <a:solidFill>
                  <a:srgbClr val="000000"/>
                </a:solidFill>
                <a:latin typeface="Helvetica World"/>
              </a:rPr>
              <a:t>titles of works</a:t>
            </a:r>
          </a:p>
        </p:txBody>
      </p:sp>
      <p:sp>
        <p:nvSpPr>
          <p:cNvPr id="22" name="Entity GPE"/>
          <p:cNvSpPr/>
          <p:nvPr/>
        </p:nvSpPr>
        <p:spPr>
          <a:xfrm>
            <a:off x="6858000" y="8092440"/>
            <a:ext cx="1691639" cy="548640"/>
          </a:xfrm>
          <a:prstGeom prst="rect">
            <a:avLst/>
          </a:prstGeom>
          <a:solidFill>
            <a:srgbClr val="FECA7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0" y="8092440"/>
            <a:ext cx="150875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lang="en-US">
                <a:solidFill>
                  <a:srgbClr val="000000"/>
                </a:solidFill>
                <a:latin typeface="Helvetica World"/>
              </a:rPr>
              <a:t>GPE</a:t>
            </a:r>
          </a:p>
          <a:p>
            <a:pPr algn="ctr"/>
            <a:r>
              <a:rPr sz="1400" b="0" lang="en-US">
                <a:solidFill>
                  <a:srgbClr val="000000"/>
                </a:solidFill>
                <a:latin typeface="Helvetica World"/>
              </a:rPr>
              <a:t>countries, cities</a:t>
            </a:r>
          </a:p>
        </p:txBody>
      </p:sp>
      <p:sp>
        <p:nvSpPr>
          <p:cNvPr id="24" name="Card 2"/>
          <p:cNvSpPr/>
          <p:nvPr/>
        </p:nvSpPr>
        <p:spPr>
          <a:xfrm>
            <a:off x="9418320" y="2606040"/>
            <a:ext cx="7955279" cy="6309360"/>
          </a:xfrm>
          <a:prstGeom prst="rect">
            <a:avLst/>
          </a:prstGeom>
          <a:solidFill>
            <a:srgbClr val="E1E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Card 2 badge"/>
          <p:cNvSpPr/>
          <p:nvPr/>
        </p:nvSpPr>
        <p:spPr>
          <a:xfrm>
            <a:off x="9738360" y="2880360"/>
            <a:ext cx="640080" cy="640080"/>
          </a:xfrm>
          <a:prstGeom prst="rect">
            <a:avLst/>
          </a:prstGeom>
          <a:solidFill>
            <a:srgbClr val="98C4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38360" y="288036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0" lang="en-US">
                <a:solidFill>
                  <a:srgbClr val="FFFFFF"/>
                </a:solidFill>
                <a:latin typeface="Helios Extended"/>
              </a:rP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61320" y="2880360"/>
            <a:ext cx="6492239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 lang="en-US">
                <a:solidFill>
                  <a:srgbClr val="000000"/>
                </a:solidFill>
                <a:latin typeface="Helvetica World"/>
              </a:rPr>
              <a:t>Review sentiment with TF-IDF + classic ML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38360" y="3703320"/>
            <a:ext cx="7315199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320040" indent="-320040">
              <a:spcAft>
                <a:spcPts val="800"/>
              </a:spcAft>
              <a:buFont typeface="Arial"/>
              <a:buChar char="•"/>
            </a:pPr>
            <a:r>
              <a:rPr sz="2000" b="0" lang="en-US">
                <a:solidFill>
                  <a:srgbClr val="000000"/>
                </a:solidFill>
                <a:latin typeface="Helvetica World"/>
              </a:rPr>
              <a:t>Cleaned long reviews (stop-word removal, stemming) and turned them into TF-IDF vectors</a:t>
            </a:r>
          </a:p>
          <a:p>
            <a:pPr algn="l" marL="320040" indent="-320040">
              <a:spcAft>
                <a:spcPts val="800"/>
              </a:spcAft>
              <a:buFont typeface="Arial"/>
              <a:buChar char="•"/>
            </a:pPr>
            <a:r>
              <a:rPr sz="2000" b="0" lang="en-US">
                <a:solidFill>
                  <a:srgbClr val="000000"/>
                </a:solidFill>
                <a:latin typeface="Helvetica World"/>
              </a:rPr>
              <a:t>Compared three supervised classifiers on the same vectors; word cloud of the positive reviews</a:t>
            </a:r>
          </a:p>
        </p:txBody>
      </p:sp>
      <p:sp>
        <p:nvSpPr>
          <p:cNvPr id="29" name="Card 2 code"/>
          <p:cNvSpPr/>
          <p:nvPr/>
        </p:nvSpPr>
        <p:spPr>
          <a:xfrm>
            <a:off x="9738360" y="5257800"/>
            <a:ext cx="7315199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21240" y="5257800"/>
            <a:ext cx="6949439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lang="en-US">
                <a:solidFill>
                  <a:srgbClr val="000000"/>
                </a:solidFill>
                <a:latin typeface="Courier New"/>
              </a:rPr>
              <a:t>WC = WordCloud(width=1000, height=500,</a:t>
            </a:r>
          </a:p>
          <a:p>
            <a:pPr algn="l"/>
            <a:r>
              <a:rPr sz="1600" b="0" lang="en-US">
                <a:solidFill>
                  <a:srgbClr val="000000"/>
                </a:solidFill>
                <a:latin typeface="Courier New"/>
              </a:rPr>
              <a:t>               max_words=500, min_font_size=5)</a:t>
            </a:r>
          </a:p>
        </p:txBody>
      </p:sp>
      <p:pic>
        <p:nvPicPr>
          <p:cNvPr id="31" name="Word cloud" descr="wordcl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8360" y="6217920"/>
            <a:ext cx="3383280" cy="1694666"/>
          </a:xfrm>
          <a:prstGeom prst="rect">
            <a:avLst/>
          </a:prstGeom>
        </p:spPr>
      </p:pic>
      <p:sp>
        <p:nvSpPr>
          <p:cNvPr id="32" name="Word cloud caption"/>
          <p:cNvSpPr txBox="1"/>
          <p:nvPr/>
        </p:nvSpPr>
        <p:spPr>
          <a:xfrm>
            <a:off x="13395960" y="6217920"/>
            <a:ext cx="3657599" cy="16946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lang="en-US">
                <a:solidFill>
                  <a:srgbClr val="555555"/>
                </a:solidFill>
                <a:latin typeface="Helvetica World"/>
              </a:rPr>
              <a:t>Word cloud of the positive reviews after stemming: 'well', 'littl', 'product', 'master' and 'realism' dominate.</a:t>
            </a:r>
          </a:p>
        </p:txBody>
      </p:sp>
      <p:sp>
        <p:nvSpPr>
          <p:cNvPr id="33" name="Classifier 1"/>
          <p:cNvSpPr/>
          <p:nvPr/>
        </p:nvSpPr>
        <p:spPr>
          <a:xfrm>
            <a:off x="9738360" y="8092440"/>
            <a:ext cx="2316479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29800" y="8092440"/>
            <a:ext cx="213359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lang="en-US">
                <a:solidFill>
                  <a:srgbClr val="000000"/>
                </a:solidFill>
                <a:latin typeface="Helvetica World"/>
              </a:rPr>
              <a:t>Logistic Regression</a:t>
            </a:r>
          </a:p>
        </p:txBody>
      </p:sp>
      <p:sp>
        <p:nvSpPr>
          <p:cNvPr id="35" name="Classifier 2"/>
          <p:cNvSpPr/>
          <p:nvPr/>
        </p:nvSpPr>
        <p:spPr>
          <a:xfrm>
            <a:off x="12237720" y="8092440"/>
            <a:ext cx="2316479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329160" y="8092440"/>
            <a:ext cx="213359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lang="en-US">
                <a:solidFill>
                  <a:srgbClr val="000000"/>
                </a:solidFill>
                <a:latin typeface="Helvetica World"/>
              </a:rPr>
              <a:t>Support Vector Machine</a:t>
            </a:r>
          </a:p>
        </p:txBody>
      </p:sp>
      <p:sp>
        <p:nvSpPr>
          <p:cNvPr id="37" name="Classifier 3"/>
          <p:cNvSpPr/>
          <p:nvPr/>
        </p:nvSpPr>
        <p:spPr>
          <a:xfrm>
            <a:off x="14737080" y="8092440"/>
            <a:ext cx="2316479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4828520" y="8092440"/>
            <a:ext cx="213359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lang="en-US">
                <a:solidFill>
                  <a:srgbClr val="000000"/>
                </a:solidFill>
                <a:latin typeface="Helvetica World"/>
              </a:rPr>
              <a:t>Multinomial Naive Bayes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DAHZHiOPlUc</dc:identifier>
  <dcterms:modified xsi:type="dcterms:W3CDTF">2011-08-01T06:04:30Z</dcterms:modified>
  <cp:revision>1</cp:revision>
  <dc:title>Project Showcase Presentation</dc:title>
</cp:coreProperties>
</file>